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825" r:id="rId3"/>
    <p:sldId id="829" r:id="rId4"/>
    <p:sldId id="830" r:id="rId5"/>
    <p:sldId id="826" r:id="rId6"/>
    <p:sldId id="827" r:id="rId7"/>
    <p:sldId id="828" r:id="rId8"/>
    <p:sldId id="831" r:id="rId9"/>
    <p:sldId id="832" r:id="rId10"/>
    <p:sldId id="823" r:id="rId11"/>
    <p:sldId id="835" r:id="rId12"/>
    <p:sldId id="833" r:id="rId13"/>
    <p:sldId id="834" r:id="rId14"/>
    <p:sldId id="836" r:id="rId15"/>
    <p:sldId id="837" r:id="rId16"/>
    <p:sldId id="838" r:id="rId17"/>
    <p:sldId id="841" r:id="rId18"/>
    <p:sldId id="842" r:id="rId19"/>
    <p:sldId id="843" r:id="rId20"/>
    <p:sldId id="844" r:id="rId21"/>
    <p:sldId id="845" r:id="rId22"/>
    <p:sldId id="846" r:id="rId23"/>
    <p:sldId id="847" r:id="rId24"/>
    <p:sldId id="848" r:id="rId25"/>
    <p:sldId id="849" r:id="rId26"/>
    <p:sldId id="850" r:id="rId27"/>
    <p:sldId id="851" r:id="rId28"/>
    <p:sldId id="853" r:id="rId29"/>
    <p:sldId id="855" r:id="rId30"/>
    <p:sldId id="854" r:id="rId31"/>
    <p:sldId id="856" r:id="rId32"/>
    <p:sldId id="857" r:id="rId33"/>
    <p:sldId id="858" r:id="rId34"/>
    <p:sldId id="859" r:id="rId35"/>
    <p:sldId id="860" r:id="rId36"/>
    <p:sldId id="861" r:id="rId37"/>
    <p:sldId id="862" r:id="rId38"/>
    <p:sldId id="863" r:id="rId39"/>
    <p:sldId id="864" r:id="rId40"/>
    <p:sldId id="865" r:id="rId41"/>
    <p:sldId id="866" r:id="rId42"/>
    <p:sldId id="867" r:id="rId43"/>
    <p:sldId id="868" r:id="rId44"/>
    <p:sldId id="869" r:id="rId45"/>
    <p:sldId id="870" r:id="rId46"/>
    <p:sldId id="871" r:id="rId47"/>
    <p:sldId id="872" r:id="rId48"/>
    <p:sldId id="873" r:id="rId49"/>
    <p:sldId id="874" r:id="rId50"/>
    <p:sldId id="875" r:id="rId51"/>
    <p:sldId id="876" r:id="rId52"/>
    <p:sldId id="852" r:id="rId53"/>
    <p:sldId id="824" r:id="rId54"/>
    <p:sldId id="725" r:id="rId55"/>
    <p:sldId id="765" r:id="rId56"/>
    <p:sldId id="705" r:id="rId57"/>
    <p:sldId id="693" r:id="rId58"/>
    <p:sldId id="664" r:id="rId59"/>
    <p:sldId id="670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 autoAdjust="0"/>
    <p:restoredTop sz="94660"/>
  </p:normalViewPr>
  <p:slideViewPr>
    <p:cSldViewPr snapToGrid="0">
      <p:cViewPr>
        <p:scale>
          <a:sx n="118" d="100"/>
          <a:sy n="118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24C9-18AD-495D-A54A-6FFA96519E0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18759-DABD-4892-B834-CDF2E12FF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A405-C945-40C5-A026-D7A5AF97B22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3556"/>
            <a:ext cx="9144000" cy="1524644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 207: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Algorithms-II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 1)</a:t>
            </a:r>
            <a:endParaRPr lang="en-US" sz="4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70449"/>
            <a:ext cx="9144000" cy="165576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Instructor</a:t>
            </a:r>
          </a:p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Md</a:t>
            </a:r>
            <a:r>
              <a:rPr lang="en-US" dirty="0" smtClean="0"/>
              <a:t> </a:t>
            </a:r>
            <a:r>
              <a:rPr lang="en-US" dirty="0" err="1" smtClean="0"/>
              <a:t>Monirul</a:t>
            </a:r>
            <a:r>
              <a:rPr lang="en-US" dirty="0" smtClean="0"/>
              <a:t> Islam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0659" y="1561660"/>
                <a:ext cx="11788346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Uses path relaxation property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&lt;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.,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 path from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i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relax edges in the order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. . ., 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1815882"/>
              </a:xfrm>
              <a:prstGeom prst="rect">
                <a:avLst/>
              </a:prstGeom>
              <a:blipFill rotWithShape="0">
                <a:blip r:embed="rId2"/>
                <a:stretch>
                  <a:fillRect l="-1086" t="-3356" b="-8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12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0659" y="1561660"/>
            <a:ext cx="1178834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from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then, 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is also a shortest path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is also a shortest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is also a shortest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endParaRPr lang="en-US" sz="28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also a shortest path</a:t>
            </a:r>
          </a:p>
          <a:p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8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0659" y="1561660"/>
                <a:ext cx="11788346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Uses path relaxation property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&lt;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.,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 path from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i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relax edges in the order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. . ., (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1815882"/>
              </a:xfrm>
              <a:prstGeom prst="rect">
                <a:avLst/>
              </a:prstGeom>
              <a:blipFill rotWithShape="0">
                <a:blip r:embed="rId2"/>
                <a:stretch>
                  <a:fillRect l="-1086" t="-3356" b="-8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438229" y="4615709"/>
                <a:ext cx="17337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229" y="4615709"/>
                <a:ext cx="1733752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701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68995" y="4471545"/>
                <a:ext cx="21442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95" y="4471545"/>
                <a:ext cx="2144204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5682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455770" y="4525091"/>
                <a:ext cx="17586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770" y="4525091"/>
                <a:ext cx="1758601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7292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975654" y="4792823"/>
                <a:ext cx="17586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654" y="4792823"/>
                <a:ext cx="1758601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692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150070" y="4801062"/>
                <a:ext cx="17586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070" y="4801062"/>
                <a:ext cx="1758601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7292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3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86834" y="1499046"/>
            <a:ext cx="3315565" cy="3252507"/>
            <a:chOff x="6293346" y="1540236"/>
            <a:chExt cx="3315565" cy="3252507"/>
          </a:xfrm>
        </p:grpSpPr>
        <p:sp>
          <p:nvSpPr>
            <p:cNvPr id="26" name="Oval 25"/>
            <p:cNvSpPr/>
            <p:nvPr/>
          </p:nvSpPr>
          <p:spPr>
            <a:xfrm>
              <a:off x="9055646" y="1906568"/>
              <a:ext cx="553265" cy="4864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7761371" y="1928678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6519758" y="2950431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7785713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9106231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Connector 30"/>
            <p:cNvCxnSpPr>
              <a:endCxn id="26" idx="4"/>
            </p:cNvCxnSpPr>
            <p:nvPr/>
          </p:nvCxnSpPr>
          <p:spPr>
            <a:xfrm flipV="1">
              <a:off x="8187403" y="2392989"/>
              <a:ext cx="1144876" cy="1644017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7" idx="6"/>
              <a:endCxn id="26" idx="2"/>
            </p:cNvCxnSpPr>
            <p:nvPr/>
          </p:nvCxnSpPr>
          <p:spPr>
            <a:xfrm>
              <a:off x="8218615" y="214977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8" idx="7"/>
              <a:endCxn id="27" idx="3"/>
            </p:cNvCxnSpPr>
            <p:nvPr/>
          </p:nvCxnSpPr>
          <p:spPr>
            <a:xfrm flipV="1">
              <a:off x="6910040" y="2306120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8" idx="6"/>
              <a:endCxn id="26" idx="3"/>
            </p:cNvCxnSpPr>
            <p:nvPr/>
          </p:nvCxnSpPr>
          <p:spPr>
            <a:xfrm flipV="1">
              <a:off x="6977002" y="2321754"/>
              <a:ext cx="2159668" cy="84977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8576698" y="343625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07843" y="288180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738815" y="306173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470618" y="178253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119336" y="2339732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833185" y="279983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692884" y="3309083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69977" y="155248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227958" y="154023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97692" y="433107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84247" y="429720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292272" y="280354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96297" y="301010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8272159" y="422983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441782" y="416740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Arrow Connector 49"/>
            <p:cNvCxnSpPr>
              <a:stCxn id="26" idx="4"/>
              <a:endCxn id="30" idx="0"/>
            </p:cNvCxnSpPr>
            <p:nvPr/>
          </p:nvCxnSpPr>
          <p:spPr>
            <a:xfrm>
              <a:off x="9332279" y="239298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8034817" y="238062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27" idx="5"/>
            </p:cNvCxnSpPr>
            <p:nvPr/>
          </p:nvCxnSpPr>
          <p:spPr>
            <a:xfrm>
              <a:off x="8151653" y="2306120"/>
              <a:ext cx="1039035" cy="1678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6523875" y="194129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6757954" y="2388242"/>
              <a:ext cx="2574" cy="550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6489138" y="2352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6962349" y="217860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7214352" y="181136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93346" y="19127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640602" y="4754518"/>
            <a:ext cx="1135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184155" y="1561660"/>
            <a:ext cx="78348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maintain an order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 move in a particular direction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Topological sorting finds the both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7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40602" y="4754518"/>
            <a:ext cx="1135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374292" y="2758641"/>
            <a:ext cx="149382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230907" y="2326168"/>
            <a:ext cx="16475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Topological</a:t>
            </a:r>
          </a:p>
          <a:p>
            <a:pPr algn="ctr"/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988599" y="1938568"/>
            <a:ext cx="6042120" cy="2134437"/>
            <a:chOff x="147985" y="3470808"/>
            <a:chExt cx="6042120" cy="2134437"/>
          </a:xfrm>
        </p:grpSpPr>
        <p:sp>
          <p:nvSpPr>
            <p:cNvPr id="62" name="Oval 61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685870" y="414679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2930685" y="4167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1810336" y="4150914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4067499" y="4183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5185386" y="4187983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Freeform 83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 86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 87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704703" y="354082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61383" y="478935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29763" y="483465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86834" y="1499046"/>
            <a:ext cx="3315565" cy="3252507"/>
            <a:chOff x="6293346" y="1540236"/>
            <a:chExt cx="3315565" cy="3252507"/>
          </a:xfrm>
        </p:grpSpPr>
        <p:sp>
          <p:nvSpPr>
            <p:cNvPr id="95" name="Oval 94"/>
            <p:cNvSpPr/>
            <p:nvPr/>
          </p:nvSpPr>
          <p:spPr>
            <a:xfrm>
              <a:off x="9055646" y="1906568"/>
              <a:ext cx="553265" cy="4864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Oval 95"/>
            <p:cNvSpPr/>
            <p:nvPr/>
          </p:nvSpPr>
          <p:spPr>
            <a:xfrm>
              <a:off x="7761371" y="1928678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Oval 96"/>
            <p:cNvSpPr/>
            <p:nvPr/>
          </p:nvSpPr>
          <p:spPr>
            <a:xfrm>
              <a:off x="6519758" y="2950431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Oval 97"/>
            <p:cNvSpPr/>
            <p:nvPr/>
          </p:nvSpPr>
          <p:spPr>
            <a:xfrm>
              <a:off x="7785713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Oval 98"/>
            <p:cNvSpPr/>
            <p:nvPr/>
          </p:nvSpPr>
          <p:spPr>
            <a:xfrm>
              <a:off x="9106231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Straight Connector 99"/>
            <p:cNvCxnSpPr>
              <a:endCxn id="95" idx="4"/>
            </p:cNvCxnSpPr>
            <p:nvPr/>
          </p:nvCxnSpPr>
          <p:spPr>
            <a:xfrm flipV="1">
              <a:off x="8187403" y="2392989"/>
              <a:ext cx="1144876" cy="1644017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96" idx="6"/>
              <a:endCxn id="95" idx="2"/>
            </p:cNvCxnSpPr>
            <p:nvPr/>
          </p:nvCxnSpPr>
          <p:spPr>
            <a:xfrm>
              <a:off x="8218615" y="214977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97" idx="7"/>
              <a:endCxn id="96" idx="3"/>
            </p:cNvCxnSpPr>
            <p:nvPr/>
          </p:nvCxnSpPr>
          <p:spPr>
            <a:xfrm flipV="1">
              <a:off x="6910040" y="2306120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97" idx="6"/>
              <a:endCxn id="95" idx="3"/>
            </p:cNvCxnSpPr>
            <p:nvPr/>
          </p:nvCxnSpPr>
          <p:spPr>
            <a:xfrm flipV="1">
              <a:off x="6977002" y="2321754"/>
              <a:ext cx="2159668" cy="84977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8576698" y="343625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307843" y="288180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738815" y="306173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8470618" y="178253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119336" y="2339732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833185" y="279983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692884" y="3309083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7869977" y="155248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227958" y="154023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897692" y="433107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284247" y="429720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8292272" y="280354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996297" y="301010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7" name="Straight Connector 116"/>
            <p:cNvCxnSpPr/>
            <p:nvPr/>
          </p:nvCxnSpPr>
          <p:spPr>
            <a:xfrm>
              <a:off x="8272159" y="422983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8441782" y="416740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9" name="Straight Arrow Connector 118"/>
            <p:cNvCxnSpPr>
              <a:stCxn id="95" idx="4"/>
              <a:endCxn id="99" idx="0"/>
            </p:cNvCxnSpPr>
            <p:nvPr/>
          </p:nvCxnSpPr>
          <p:spPr>
            <a:xfrm>
              <a:off x="9332279" y="239298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8034817" y="238062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96" idx="5"/>
            </p:cNvCxnSpPr>
            <p:nvPr/>
          </p:nvCxnSpPr>
          <p:spPr>
            <a:xfrm>
              <a:off x="8151653" y="2306120"/>
              <a:ext cx="1039035" cy="1678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21"/>
            <p:cNvSpPr/>
            <p:nvPr/>
          </p:nvSpPr>
          <p:spPr>
            <a:xfrm>
              <a:off x="6523875" y="194129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" name="Straight Arrow Connector 122"/>
            <p:cNvCxnSpPr/>
            <p:nvPr/>
          </p:nvCxnSpPr>
          <p:spPr>
            <a:xfrm>
              <a:off x="6757954" y="2388242"/>
              <a:ext cx="2574" cy="550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/>
            <p:cNvSpPr txBox="1"/>
            <p:nvPr/>
          </p:nvSpPr>
          <p:spPr>
            <a:xfrm>
              <a:off x="6489138" y="2352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6962349" y="217860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7214352" y="181136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293346" y="19127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18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40602" y="4754518"/>
            <a:ext cx="1135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374292" y="2758641"/>
            <a:ext cx="149382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230907" y="2326168"/>
            <a:ext cx="16475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Topological</a:t>
            </a:r>
          </a:p>
          <a:p>
            <a:pPr algn="ctr"/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406675" y="4140109"/>
            <a:ext cx="54993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once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relaxation property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386834" y="1499046"/>
            <a:ext cx="3315565" cy="3252507"/>
            <a:chOff x="6293346" y="1540236"/>
            <a:chExt cx="3315565" cy="3252507"/>
          </a:xfrm>
        </p:grpSpPr>
        <p:sp>
          <p:nvSpPr>
            <p:cNvPr id="63" name="Oval 62"/>
            <p:cNvSpPr/>
            <p:nvPr/>
          </p:nvSpPr>
          <p:spPr>
            <a:xfrm>
              <a:off x="9055646" y="1906568"/>
              <a:ext cx="553265" cy="4864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7761371" y="1928678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6519758" y="2950431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7785713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9106231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Straight Connector 67"/>
            <p:cNvCxnSpPr>
              <a:endCxn id="63" idx="4"/>
            </p:cNvCxnSpPr>
            <p:nvPr/>
          </p:nvCxnSpPr>
          <p:spPr>
            <a:xfrm flipV="1">
              <a:off x="8187403" y="2392989"/>
              <a:ext cx="1144876" cy="1644017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64" idx="6"/>
              <a:endCxn id="63" idx="2"/>
            </p:cNvCxnSpPr>
            <p:nvPr/>
          </p:nvCxnSpPr>
          <p:spPr>
            <a:xfrm>
              <a:off x="8218615" y="214977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5" idx="7"/>
              <a:endCxn id="64" idx="3"/>
            </p:cNvCxnSpPr>
            <p:nvPr/>
          </p:nvCxnSpPr>
          <p:spPr>
            <a:xfrm flipV="1">
              <a:off x="6910040" y="2306120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5" idx="6"/>
              <a:endCxn id="63" idx="3"/>
            </p:cNvCxnSpPr>
            <p:nvPr/>
          </p:nvCxnSpPr>
          <p:spPr>
            <a:xfrm flipV="1">
              <a:off x="6977002" y="2321754"/>
              <a:ext cx="2159668" cy="84977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8576698" y="343625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07843" y="288180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738815" y="306173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470618" y="178253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119336" y="2339732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833185" y="279983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692884" y="3309083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869977" y="155248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227958" y="154023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897692" y="433107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284247" y="429720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292272" y="280354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996297" y="301010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8272159" y="422983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8441782" y="416740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" name="Straight Arrow Connector 86"/>
            <p:cNvCxnSpPr>
              <a:stCxn id="63" idx="4"/>
              <a:endCxn id="67" idx="0"/>
            </p:cNvCxnSpPr>
            <p:nvPr/>
          </p:nvCxnSpPr>
          <p:spPr>
            <a:xfrm>
              <a:off x="9332279" y="239298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8034817" y="238062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64" idx="5"/>
            </p:cNvCxnSpPr>
            <p:nvPr/>
          </p:nvCxnSpPr>
          <p:spPr>
            <a:xfrm>
              <a:off x="8151653" y="2306120"/>
              <a:ext cx="1039035" cy="1678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/>
            <p:cNvSpPr/>
            <p:nvPr/>
          </p:nvSpPr>
          <p:spPr>
            <a:xfrm>
              <a:off x="6523875" y="194129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57954" y="2388242"/>
              <a:ext cx="2574" cy="550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6489138" y="2352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962349" y="217860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7214352" y="181136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293346" y="19127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5988599" y="1938568"/>
            <a:ext cx="6042120" cy="2134437"/>
            <a:chOff x="147985" y="3470808"/>
            <a:chExt cx="6042120" cy="2134437"/>
          </a:xfrm>
        </p:grpSpPr>
        <p:sp>
          <p:nvSpPr>
            <p:cNvPr id="97" name="Oval 96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Oval 98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Straight Connector 99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685870" y="414679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2930685" y="4167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1810336" y="4150914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4067499" y="4183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Oval 114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7" name="Straight Connector 116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5185386" y="4187983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704703" y="354082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61383" y="478935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3729763" y="483465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94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40602" y="4754518"/>
            <a:ext cx="1135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184155" y="4667322"/>
            <a:ext cx="78348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Negative-weight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edges are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need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pass over vertices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processing a vertex, its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going edges are relaxed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4374292" y="2758641"/>
            <a:ext cx="149382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230907" y="2326168"/>
            <a:ext cx="16475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Topological</a:t>
            </a:r>
          </a:p>
          <a:p>
            <a:pPr algn="ctr"/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386834" y="1499046"/>
            <a:ext cx="3315565" cy="3252507"/>
            <a:chOff x="6293346" y="1540236"/>
            <a:chExt cx="3315565" cy="3252507"/>
          </a:xfrm>
        </p:grpSpPr>
        <p:sp>
          <p:nvSpPr>
            <p:cNvPr id="64" name="Oval 63"/>
            <p:cNvSpPr/>
            <p:nvPr/>
          </p:nvSpPr>
          <p:spPr>
            <a:xfrm>
              <a:off x="9055646" y="1906568"/>
              <a:ext cx="553265" cy="4864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7761371" y="1928678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6519758" y="2950431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7785713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9106231" y="3963809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68"/>
            <p:cNvCxnSpPr>
              <a:endCxn id="64" idx="4"/>
            </p:cNvCxnSpPr>
            <p:nvPr/>
          </p:nvCxnSpPr>
          <p:spPr>
            <a:xfrm flipV="1">
              <a:off x="8187403" y="2392989"/>
              <a:ext cx="1144876" cy="1644017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5" idx="6"/>
              <a:endCxn id="64" idx="2"/>
            </p:cNvCxnSpPr>
            <p:nvPr/>
          </p:nvCxnSpPr>
          <p:spPr>
            <a:xfrm>
              <a:off x="8218615" y="214977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6" idx="7"/>
              <a:endCxn id="65" idx="3"/>
            </p:cNvCxnSpPr>
            <p:nvPr/>
          </p:nvCxnSpPr>
          <p:spPr>
            <a:xfrm flipV="1">
              <a:off x="6910040" y="2306120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6" idx="6"/>
              <a:endCxn id="64" idx="3"/>
            </p:cNvCxnSpPr>
            <p:nvPr/>
          </p:nvCxnSpPr>
          <p:spPr>
            <a:xfrm flipV="1">
              <a:off x="6977002" y="2321754"/>
              <a:ext cx="2159668" cy="84977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8576698" y="343625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307843" y="288180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738815" y="306173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470618" y="178253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119336" y="2339732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833185" y="279983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692884" y="3309083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869977" y="155248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227958" y="154023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897692" y="433107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284247" y="429720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292272" y="280354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996297" y="301010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>
            <a:xfrm>
              <a:off x="8272159" y="422983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8441782" y="416740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Straight Arrow Connector 87"/>
            <p:cNvCxnSpPr>
              <a:stCxn id="64" idx="4"/>
              <a:endCxn id="68" idx="0"/>
            </p:cNvCxnSpPr>
            <p:nvPr/>
          </p:nvCxnSpPr>
          <p:spPr>
            <a:xfrm>
              <a:off x="9332279" y="239298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>
              <a:off x="8034817" y="2380629"/>
              <a:ext cx="2574" cy="1570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5" idx="5"/>
            </p:cNvCxnSpPr>
            <p:nvPr/>
          </p:nvCxnSpPr>
          <p:spPr>
            <a:xfrm>
              <a:off x="8151653" y="2306120"/>
              <a:ext cx="1039035" cy="1678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/>
            <p:cNvSpPr/>
            <p:nvPr/>
          </p:nvSpPr>
          <p:spPr>
            <a:xfrm>
              <a:off x="6523875" y="194129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>
              <a:off x="6757954" y="2388242"/>
              <a:ext cx="2574" cy="550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6489138" y="2352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6962349" y="2178609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7214352" y="181136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293346" y="19127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5988599" y="1938568"/>
            <a:ext cx="6042120" cy="2134437"/>
            <a:chOff x="147985" y="3470808"/>
            <a:chExt cx="6042120" cy="2134437"/>
          </a:xfrm>
        </p:grpSpPr>
        <p:sp>
          <p:nvSpPr>
            <p:cNvPr id="98" name="Oval 97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Straight Connector 100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685870" y="414679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" name="Straight Connector 104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2930685" y="4167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1810336" y="4150914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3" name="Straight Connector 112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4067499" y="4183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Oval 115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8" name="Straight Connector 117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5185386" y="4187983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4704703" y="354082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361383" y="478935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3729763" y="483465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299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1" y="1403779"/>
            <a:ext cx="7400925" cy="2419350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4184155" y="4667322"/>
            <a:ext cx="78348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Negative-weight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edges are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need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pass over vertices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processing a vertex, its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going edges are relaxed</a:t>
            </a:r>
          </a:p>
        </p:txBody>
      </p:sp>
    </p:spTree>
    <p:extLst>
      <p:ext uri="{BB962C8B-B14F-4D97-AF65-F5344CB8AC3E}">
        <p14:creationId xmlns:p14="http://schemas.microsoft.com/office/powerpoint/2010/main" val="267053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271" y="1510199"/>
            <a:ext cx="5527886" cy="1957932"/>
            <a:chOff x="147985" y="3470808"/>
            <a:chExt cx="6042120" cy="2134437"/>
          </a:xfrm>
        </p:grpSpPr>
        <p:sp>
          <p:nvSpPr>
            <p:cNvPr id="5" name="Oval 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2009783" y="3393341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4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271" y="1510199"/>
            <a:ext cx="5527886" cy="1957932"/>
            <a:chOff x="147985" y="3470808"/>
            <a:chExt cx="6042120" cy="2134437"/>
          </a:xfrm>
        </p:grpSpPr>
        <p:sp>
          <p:nvSpPr>
            <p:cNvPr id="5" name="Oval 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486985" y="1530794"/>
            <a:ext cx="5527886" cy="1957932"/>
            <a:chOff x="147985" y="3470808"/>
            <a:chExt cx="6042120" cy="2134437"/>
          </a:xfrm>
        </p:grpSpPr>
        <p:sp>
          <p:nvSpPr>
            <p:cNvPr id="38" name="Oval 37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61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8579437" y="338098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  <p:sp>
        <p:nvSpPr>
          <p:cNvPr id="104" name="Rectangle 103"/>
          <p:cNvSpPr/>
          <p:nvPr/>
        </p:nvSpPr>
        <p:spPr>
          <a:xfrm>
            <a:off x="2009783" y="3393341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35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271" y="1510199"/>
            <a:ext cx="5527886" cy="1957932"/>
            <a:chOff x="147985" y="3470808"/>
            <a:chExt cx="6042120" cy="2134437"/>
          </a:xfrm>
        </p:grpSpPr>
        <p:sp>
          <p:nvSpPr>
            <p:cNvPr id="5" name="Oval 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486985" y="1530794"/>
            <a:ext cx="5527886" cy="1957932"/>
            <a:chOff x="147985" y="3470808"/>
            <a:chExt cx="6042120" cy="2134437"/>
          </a:xfrm>
        </p:grpSpPr>
        <p:sp>
          <p:nvSpPr>
            <p:cNvPr id="38" name="Oval 37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61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8579437" y="338098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164460" y="4253408"/>
            <a:ext cx="5527886" cy="1957932"/>
            <a:chOff x="147985" y="3470808"/>
            <a:chExt cx="6042120" cy="2134437"/>
          </a:xfrm>
        </p:grpSpPr>
        <p:sp>
          <p:nvSpPr>
            <p:cNvPr id="71" name="Oval 70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Straight Connector 80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" name="Straight Connector 90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2256912" y="610360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  <p:sp>
        <p:nvSpPr>
          <p:cNvPr id="138" name="Rectangle 137"/>
          <p:cNvSpPr/>
          <p:nvPr/>
        </p:nvSpPr>
        <p:spPr>
          <a:xfrm>
            <a:off x="2009783" y="3393341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313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271" y="1510199"/>
            <a:ext cx="5527886" cy="1957932"/>
            <a:chOff x="147985" y="3470808"/>
            <a:chExt cx="6042120" cy="2134437"/>
          </a:xfrm>
        </p:grpSpPr>
        <p:sp>
          <p:nvSpPr>
            <p:cNvPr id="5" name="Oval 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486985" y="1530794"/>
            <a:ext cx="5527886" cy="1957932"/>
            <a:chOff x="147985" y="3470808"/>
            <a:chExt cx="6042120" cy="2134437"/>
          </a:xfrm>
        </p:grpSpPr>
        <p:sp>
          <p:nvSpPr>
            <p:cNvPr id="38" name="Oval 37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61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8579437" y="338098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164460" y="4253408"/>
            <a:ext cx="5527886" cy="1957932"/>
            <a:chOff x="147985" y="3470808"/>
            <a:chExt cx="6042120" cy="2134437"/>
          </a:xfrm>
        </p:grpSpPr>
        <p:sp>
          <p:nvSpPr>
            <p:cNvPr id="71" name="Oval 70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Straight Connector 80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" name="Straight Connector 90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2256912" y="610360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  <p:grpSp>
        <p:nvGrpSpPr>
          <p:cNvPr id="104" name="Group 103"/>
          <p:cNvGrpSpPr/>
          <p:nvPr/>
        </p:nvGrpSpPr>
        <p:grpSpPr>
          <a:xfrm>
            <a:off x="6511694" y="4274000"/>
            <a:ext cx="5527886" cy="1957932"/>
            <a:chOff x="147985" y="3470808"/>
            <a:chExt cx="6042120" cy="2134437"/>
          </a:xfrm>
        </p:grpSpPr>
        <p:sp>
          <p:nvSpPr>
            <p:cNvPr id="105" name="Oval 10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 1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8604146" y="6124193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sp>
        <p:nvSpPr>
          <p:cNvPr id="138" name="Rectangle 137"/>
          <p:cNvSpPr/>
          <p:nvPr/>
        </p:nvSpPr>
        <p:spPr>
          <a:xfrm>
            <a:off x="2009783" y="3393341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705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160335" y="1341334"/>
            <a:ext cx="5527886" cy="1957932"/>
            <a:chOff x="147985" y="3470808"/>
            <a:chExt cx="6042120" cy="2134437"/>
          </a:xfrm>
        </p:grpSpPr>
        <p:sp>
          <p:nvSpPr>
            <p:cNvPr id="105" name="Oval 10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 1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2252787" y="319152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6511694" y="1423712"/>
            <a:ext cx="5527886" cy="1957932"/>
            <a:chOff x="147985" y="3470808"/>
            <a:chExt cx="6042120" cy="2134437"/>
          </a:xfrm>
        </p:grpSpPr>
        <p:sp>
          <p:nvSpPr>
            <p:cNvPr id="140" name="Oval 139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Oval 141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3" name="Straight Connector 142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Oval 145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7" name="Straight Connector 146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0" name="Straight Connector 149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5" name="Straight Connector 154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Oval 157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 163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 164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 165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>
          <a:xfrm>
            <a:off x="8604146" y="327390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375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160335" y="1341334"/>
            <a:ext cx="5527886" cy="1957932"/>
            <a:chOff x="147985" y="3470808"/>
            <a:chExt cx="6042120" cy="2134437"/>
          </a:xfrm>
        </p:grpSpPr>
        <p:sp>
          <p:nvSpPr>
            <p:cNvPr id="105" name="Oval 10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 1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2252787" y="319152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6511694" y="1423712"/>
            <a:ext cx="5527886" cy="1957932"/>
            <a:chOff x="147985" y="3470808"/>
            <a:chExt cx="6042120" cy="2134437"/>
          </a:xfrm>
        </p:grpSpPr>
        <p:sp>
          <p:nvSpPr>
            <p:cNvPr id="140" name="Oval 139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Oval 141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3" name="Straight Connector 142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Oval 145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7" name="Straight Connector 146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0" name="Straight Connector 149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5" name="Straight Connector 154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Oval 157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 163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 164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 165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>
          <a:xfrm>
            <a:off x="8604146" y="327390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  <p:grpSp>
        <p:nvGrpSpPr>
          <p:cNvPr id="71" name="Group 70"/>
          <p:cNvGrpSpPr/>
          <p:nvPr/>
        </p:nvGrpSpPr>
        <p:grpSpPr>
          <a:xfrm>
            <a:off x="172696" y="4311076"/>
            <a:ext cx="5527886" cy="1957932"/>
            <a:chOff x="147985" y="3470808"/>
            <a:chExt cx="6042120" cy="2134437"/>
          </a:xfrm>
        </p:grpSpPr>
        <p:sp>
          <p:nvSpPr>
            <p:cNvPr id="72" name="Oval 71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Oval 85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2265148" y="616126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312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160335" y="1341334"/>
            <a:ext cx="5527886" cy="1957932"/>
            <a:chOff x="147985" y="3470808"/>
            <a:chExt cx="6042120" cy="2134437"/>
          </a:xfrm>
        </p:grpSpPr>
        <p:sp>
          <p:nvSpPr>
            <p:cNvPr id="105" name="Oval 104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 130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2252787" y="319152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6511694" y="1423712"/>
            <a:ext cx="5527886" cy="1957932"/>
            <a:chOff x="147985" y="3470808"/>
            <a:chExt cx="6042120" cy="2134437"/>
          </a:xfrm>
        </p:grpSpPr>
        <p:sp>
          <p:nvSpPr>
            <p:cNvPr id="140" name="Oval 139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Oval 141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3" name="Straight Connector 142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Oval 145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7" name="Straight Connector 146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0" name="Straight Connector 149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5" name="Straight Connector 154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Oval 157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 163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 164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 165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>
          <a:xfrm>
            <a:off x="8604146" y="327390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  <p:grpSp>
        <p:nvGrpSpPr>
          <p:cNvPr id="71" name="Group 70"/>
          <p:cNvGrpSpPr/>
          <p:nvPr/>
        </p:nvGrpSpPr>
        <p:grpSpPr>
          <a:xfrm>
            <a:off x="172696" y="4311076"/>
            <a:ext cx="5527886" cy="1957932"/>
            <a:chOff x="147985" y="3470808"/>
            <a:chExt cx="6042120" cy="2134437"/>
          </a:xfrm>
        </p:grpSpPr>
        <p:sp>
          <p:nvSpPr>
            <p:cNvPr id="72" name="Oval 71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Oval 85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2265148" y="616126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2400" dirty="0"/>
          </a:p>
        </p:txBody>
      </p:sp>
      <p:grpSp>
        <p:nvGrpSpPr>
          <p:cNvPr id="173" name="Group 172"/>
          <p:cNvGrpSpPr/>
          <p:nvPr/>
        </p:nvGrpSpPr>
        <p:grpSpPr>
          <a:xfrm>
            <a:off x="6519938" y="4306954"/>
            <a:ext cx="5527886" cy="1957932"/>
            <a:chOff x="147985" y="3470808"/>
            <a:chExt cx="6042120" cy="2134437"/>
          </a:xfrm>
        </p:grpSpPr>
        <p:sp>
          <p:nvSpPr>
            <p:cNvPr id="174" name="Oval 173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Oval 175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7" name="Straight Connector 176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685870" y="411087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Oval 179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1" name="Straight Connector 180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2930685" y="413146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4" name="Straight Connector 183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/>
            <p:cNvSpPr txBox="1"/>
            <p:nvPr/>
          </p:nvSpPr>
          <p:spPr>
            <a:xfrm>
              <a:off x="1810336" y="41149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Oval 185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Oval 187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9" name="Straight Connector 188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/>
            <p:cNvSpPr txBox="1"/>
            <p:nvPr/>
          </p:nvSpPr>
          <p:spPr>
            <a:xfrm>
              <a:off x="4067499" y="4138963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Oval 191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4" name="Straight Connector 193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/>
            <p:cNvSpPr txBox="1"/>
            <p:nvPr/>
          </p:nvSpPr>
          <p:spPr>
            <a:xfrm>
              <a:off x="5185386" y="4152060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Freeform 197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reeform 198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Freeform 199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4704703" y="351388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1361383" y="4771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3729763" y="47987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6" name="Rectangle 205"/>
          <p:cNvSpPr/>
          <p:nvPr/>
        </p:nvSpPr>
        <p:spPr>
          <a:xfrm>
            <a:off x="8612390" y="615714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123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DAG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DAG-SHORTEST-PATHS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procedure,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predecessor subgraph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shortest-paths tree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938992"/>
              </a:xfrm>
              <a:prstGeom prst="rect">
                <a:avLst/>
              </a:prstGeom>
              <a:blipFill rotWithShape="0">
                <a:blip r:embed="rId2"/>
                <a:stretch>
                  <a:fillRect l="-828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98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0659" y="2212453"/>
            <a:ext cx="107230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cases: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path from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path exists from </a:t>
            </a:r>
            <a:r>
              <a:rPr lang="en-US" sz="28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800" i="1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23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0659" y="2212453"/>
                <a:ext cx="10723091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path from </a:t>
                </a:r>
                <a:r>
                  <a:rPr lang="en-US" sz="2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Path Property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2212453"/>
                <a:ext cx="10723091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1194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724400" y="33315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6781800" y="48555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72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8839200" y="48555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72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7040563" y="5398080"/>
            <a:ext cx="43473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9128126" y="5398080"/>
            <a:ext cx="56137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w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4822986" y="4006449"/>
            <a:ext cx="40427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cxnSp>
        <p:nvCxnSpPr>
          <p:cNvPr id="11" name="Curved Connector 10"/>
          <p:cNvCxnSpPr/>
          <p:nvPr/>
        </p:nvCxnSpPr>
        <p:spPr>
          <a:xfrm>
            <a:off x="5486400" y="3712535"/>
            <a:ext cx="1688841" cy="1143000"/>
          </a:xfrm>
          <a:prstGeom prst="curvedConnector3">
            <a:avLst>
              <a:gd name="adj1" fmla="val 64917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86358" y="3610791"/>
            <a:ext cx="575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×</a:t>
            </a:r>
            <a:endParaRPr lang="en-US" sz="8000" i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3" name="AutoShape 26"/>
          <p:cNvCxnSpPr>
            <a:cxnSpLocks noChangeShapeType="1"/>
          </p:cNvCxnSpPr>
          <p:nvPr/>
        </p:nvCxnSpPr>
        <p:spPr bwMode="auto">
          <a:xfrm>
            <a:off x="7558089" y="5264523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Curved Connector 13"/>
          <p:cNvCxnSpPr/>
          <p:nvPr/>
        </p:nvCxnSpPr>
        <p:spPr>
          <a:xfrm>
            <a:off x="5486400" y="3712535"/>
            <a:ext cx="3464392" cy="1254592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3747" y="5976397"/>
            <a:ext cx="2742685" cy="608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w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5750" y="6011052"/>
            <a:ext cx="2060620" cy="59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v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4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0659" y="2212453"/>
            <a:ext cx="107230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cases: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exists from </a:t>
            </a:r>
            <a:r>
              <a:rPr lang="en-US" sz="28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0091" y="2967335"/>
            <a:ext cx="9934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shortest path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2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0659" y="2212453"/>
            <a:ext cx="107230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cases: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exists from </a:t>
            </a:r>
            <a:r>
              <a:rPr lang="en-US" sz="28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0091" y="2967335"/>
            <a:ext cx="99348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vertices in topological order,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(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. . ., (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00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Theorem 24.5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0659" y="2212453"/>
            <a:ext cx="107230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cases: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exists from </a:t>
            </a:r>
            <a:r>
              <a:rPr lang="en-US" sz="28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0091" y="2967335"/>
                <a:ext cx="10915131" cy="4619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by path relaxation property,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termination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V</a:t>
                </a:r>
                <a:r>
                  <a:rPr lang="en-US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91" y="2967335"/>
                <a:ext cx="10915131" cy="461986"/>
              </a:xfrm>
              <a:prstGeom prst="rect">
                <a:avLst/>
              </a:prstGeom>
              <a:blipFill rotWithShape="0">
                <a:blip r:embed="rId3"/>
                <a:stretch>
                  <a:fillRect l="-89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48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1625" y="1293529"/>
            <a:ext cx="11788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Theorem 24.5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predecessor subgraph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shortest-paths tree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1853" y="2538966"/>
                <a:ext cx="10915131" cy="4619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already proved in (1)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3" y="2538966"/>
                <a:ext cx="10915131" cy="461986"/>
              </a:xfrm>
              <a:prstGeom prst="rect">
                <a:avLst/>
              </a:prstGeom>
              <a:blipFill rotWithShape="0">
                <a:blip r:embed="rId2"/>
                <a:stretch>
                  <a:fillRect l="-89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66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6263" y="365125"/>
            <a:ext cx="1103252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Theorem of SSSP Algorithm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1625" y="1293529"/>
            <a:ext cx="11788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Theorem 24.5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predecessor subgraph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shortest-paths tree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1853" y="2538966"/>
                <a:ext cx="10915131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already proved in (1)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predecessor subgraph property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far formed is a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shortest-paths tree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3" y="2538966"/>
                <a:ext cx="10915131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94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24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1" y="1403779"/>
            <a:ext cx="7400925" cy="241935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284116" y="1935887"/>
            <a:ext cx="27029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653" y="1812111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653" y="1812111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5480957" y="2335427"/>
            <a:ext cx="2531644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91155" y="2211651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155" y="2211651"/>
                <a:ext cx="16393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7584695" y="2743202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42604" y="2627664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604" y="2627664"/>
                <a:ext cx="84123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5107435" y="3134497"/>
            <a:ext cx="3080976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18384" y="3010721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384" y="3010721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754" t="-10526" r="-7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4012896" y="3476370"/>
            <a:ext cx="420735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30739" y="3352594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739" y="3352594"/>
                <a:ext cx="2426047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75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65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1" y="1403779"/>
            <a:ext cx="7400925" cy="241935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284116" y="1935887"/>
            <a:ext cx="27029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653" y="1812111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653" y="1812111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5480957" y="2335427"/>
            <a:ext cx="2531644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91155" y="2211651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155" y="2211651"/>
                <a:ext cx="16393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7584695" y="2743202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42604" y="2627664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604" y="2627664"/>
                <a:ext cx="84123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5107435" y="3134497"/>
            <a:ext cx="3080976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18384" y="3010721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384" y="3010721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754" t="-10526" r="-7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4012896" y="3476370"/>
            <a:ext cx="420735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30739" y="3352594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739" y="3352594"/>
                <a:ext cx="2426047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75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05372" y="4979555"/>
                <a:ext cx="55217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Time complexity: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372" y="4979555"/>
                <a:ext cx="5521717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21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0659" y="1561660"/>
                <a:ext cx="11788346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non-negative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)≥0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Cycle is allowed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931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0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0659" y="1561660"/>
            <a:ext cx="117883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contains vertices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whose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finalized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y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25916" y="3146615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467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0659" y="1561660"/>
            <a:ext cx="1178834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contains vertices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whose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finalized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y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V-S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endParaRPr lang="en-US" sz="28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x, z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Min-priority Queue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endParaRPr 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5916" y="3113663"/>
            <a:ext cx="3180318" cy="3285459"/>
            <a:chOff x="786240" y="741163"/>
            <a:chExt cx="3180318" cy="3285459"/>
          </a:xfrm>
        </p:grpSpPr>
        <p:sp>
          <p:nvSpPr>
            <p:cNvPr id="6" name="Oval 5"/>
            <p:cNvSpPr/>
            <p:nvPr/>
          </p:nvSpPr>
          <p:spPr>
            <a:xfrm>
              <a:off x="3294464" y="1089373"/>
              <a:ext cx="608592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91748"/>
              <a:ext cx="929705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4116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87238" y="2279605"/>
              <a:ext cx="1673377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998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0659" y="1561660"/>
            <a:ext cx="117883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contains vertices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whose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finalized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y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V-S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endParaRPr lang="en-US" sz="28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x, z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outgoing edges of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relaxed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5916" y="3113663"/>
            <a:ext cx="3180318" cy="3285459"/>
            <a:chOff x="786240" y="741163"/>
            <a:chExt cx="3180318" cy="3285459"/>
          </a:xfrm>
        </p:grpSpPr>
        <p:sp>
          <p:nvSpPr>
            <p:cNvPr id="6" name="Oval 5"/>
            <p:cNvSpPr/>
            <p:nvPr/>
          </p:nvSpPr>
          <p:spPr>
            <a:xfrm>
              <a:off x="3294464" y="1089373"/>
              <a:ext cx="608592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91748"/>
              <a:ext cx="929705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4116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87238" y="2279605"/>
              <a:ext cx="1673377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674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7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46573" y="1841746"/>
            <a:ext cx="5943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 to Prim’s Algorithm or BFS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maintains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invariant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start of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iteration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while loop of lines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4-8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3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65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813638" y="1305454"/>
            <a:ext cx="3180318" cy="3252507"/>
            <a:chOff x="786240" y="774115"/>
            <a:chExt cx="3180318" cy="3252507"/>
          </a:xfrm>
        </p:grpSpPr>
        <p:sp>
          <p:nvSpPr>
            <p:cNvPr id="38" name="Oval 3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3" name="Straight Connector 42"/>
            <p:cNvCxnSpPr>
              <a:endCxn id="3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6"/>
              <a:endCxn id="3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0" idx="7"/>
              <a:endCxn id="39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40" idx="5"/>
              <a:endCxn id="4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rc 63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Straight Connector 66"/>
            <p:cNvCxnSpPr>
              <a:endCxn id="4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5267847" y="464137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87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813638" y="1305454"/>
            <a:ext cx="3180318" cy="3252507"/>
            <a:chOff x="786240" y="774115"/>
            <a:chExt cx="3180318" cy="3252507"/>
          </a:xfrm>
        </p:grpSpPr>
        <p:sp>
          <p:nvSpPr>
            <p:cNvPr id="38" name="Oval 3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3" name="Straight Connector 42"/>
            <p:cNvCxnSpPr>
              <a:endCxn id="3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6"/>
              <a:endCxn id="3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0" idx="7"/>
              <a:endCxn id="39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40" idx="5"/>
              <a:endCxn id="4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rc 63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Straight Connector 66"/>
            <p:cNvCxnSpPr>
              <a:endCxn id="4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5267847" y="464137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  <p:grpSp>
        <p:nvGrpSpPr>
          <p:cNvPr id="69" name="Group 68"/>
          <p:cNvGrpSpPr/>
          <p:nvPr/>
        </p:nvGrpSpPr>
        <p:grpSpPr>
          <a:xfrm>
            <a:off x="8216752" y="1326046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9670961" y="466196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069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3842467" y="1358998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5296676" y="469492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213720" y="1379592"/>
            <a:ext cx="3180318" cy="3252507"/>
            <a:chOff x="786240" y="774115"/>
            <a:chExt cx="3180318" cy="3252507"/>
          </a:xfrm>
        </p:grpSpPr>
        <p:sp>
          <p:nvSpPr>
            <p:cNvPr id="102" name="Oval 101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Connector 106"/>
            <p:cNvCxnSpPr>
              <a:endCxn id="102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3" idx="6"/>
              <a:endCxn id="102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04" idx="7"/>
              <a:endCxn id="10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4" idx="5"/>
              <a:endCxn id="10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Arc 12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Arc 12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" name="Straight Connector 130"/>
            <p:cNvCxnSpPr>
              <a:endCxn id="10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ectangle 131"/>
          <p:cNvSpPr/>
          <p:nvPr/>
        </p:nvSpPr>
        <p:spPr>
          <a:xfrm>
            <a:off x="1667929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42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3842467" y="1358998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5296676" y="469492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213720" y="1379592"/>
            <a:ext cx="3180318" cy="3252507"/>
            <a:chOff x="786240" y="774115"/>
            <a:chExt cx="3180318" cy="3252507"/>
          </a:xfrm>
        </p:grpSpPr>
        <p:sp>
          <p:nvSpPr>
            <p:cNvPr id="102" name="Oval 101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Connector 106"/>
            <p:cNvCxnSpPr>
              <a:endCxn id="102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3" idx="6"/>
              <a:endCxn id="102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04" idx="7"/>
              <a:endCxn id="10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4" idx="5"/>
              <a:endCxn id="10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Arc 12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Arc 12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" name="Straight Connector 130"/>
            <p:cNvCxnSpPr>
              <a:endCxn id="10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ectangle 131"/>
          <p:cNvSpPr/>
          <p:nvPr/>
        </p:nvSpPr>
        <p:spPr>
          <a:xfrm>
            <a:off x="1667929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  <p:grpSp>
        <p:nvGrpSpPr>
          <p:cNvPr id="67" name="Group 66"/>
          <p:cNvGrpSpPr/>
          <p:nvPr/>
        </p:nvGrpSpPr>
        <p:grpSpPr>
          <a:xfrm>
            <a:off x="8047877" y="1354876"/>
            <a:ext cx="3180318" cy="3252507"/>
            <a:chOff x="786240" y="774115"/>
            <a:chExt cx="3180318" cy="3252507"/>
          </a:xfrm>
        </p:grpSpPr>
        <p:sp>
          <p:nvSpPr>
            <p:cNvPr id="68" name="Oval 6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13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Straight Connector 136"/>
            <p:cNvCxnSpPr>
              <a:endCxn id="6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33" idx="6"/>
              <a:endCxn id="6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34" idx="7"/>
              <a:endCxn id="13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34" idx="5"/>
              <a:endCxn id="13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rc 15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Arc 15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Arc 15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Arc 15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Straight Connector 160"/>
            <p:cNvCxnSpPr>
              <a:endCxn id="13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ectangle 161"/>
          <p:cNvSpPr/>
          <p:nvPr/>
        </p:nvSpPr>
        <p:spPr>
          <a:xfrm>
            <a:off x="9502086" y="469079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283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8047877" y="1354876"/>
            <a:ext cx="3180318" cy="3252507"/>
            <a:chOff x="786240" y="774115"/>
            <a:chExt cx="3180318" cy="3252507"/>
          </a:xfrm>
        </p:grpSpPr>
        <p:sp>
          <p:nvSpPr>
            <p:cNvPr id="68" name="Oval 6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13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Straight Connector 136"/>
            <p:cNvCxnSpPr>
              <a:endCxn id="6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33" idx="6"/>
              <a:endCxn id="6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34" idx="7"/>
              <a:endCxn id="13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34" idx="5"/>
              <a:endCxn id="13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rc 15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Arc 15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Arc 15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Arc 15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Straight Connector 160"/>
            <p:cNvCxnSpPr>
              <a:endCxn id="13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ectangle 161"/>
          <p:cNvSpPr/>
          <p:nvPr/>
        </p:nvSpPr>
        <p:spPr>
          <a:xfrm>
            <a:off x="9502086" y="469079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2400" dirty="0"/>
          </a:p>
        </p:txBody>
      </p:sp>
      <p:grpSp>
        <p:nvGrpSpPr>
          <p:cNvPr id="163" name="Group 162"/>
          <p:cNvGrpSpPr/>
          <p:nvPr/>
        </p:nvGrpSpPr>
        <p:grpSpPr>
          <a:xfrm>
            <a:off x="172514" y="1379592"/>
            <a:ext cx="3180318" cy="3252507"/>
            <a:chOff x="786240" y="774115"/>
            <a:chExt cx="3180318" cy="3252507"/>
          </a:xfrm>
        </p:grpSpPr>
        <p:sp>
          <p:nvSpPr>
            <p:cNvPr id="164" name="Oval 163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Oval 165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Oval 166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9" name="Straight Connector 168"/>
            <p:cNvCxnSpPr>
              <a:endCxn id="164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>
              <a:stCxn id="165" idx="6"/>
              <a:endCxn id="164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>
              <a:stCxn id="166" idx="7"/>
              <a:endCxn id="165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166" idx="5"/>
              <a:endCxn id="167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Arc 184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Arc 185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Arc 188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Arc 189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3" name="Straight Connector 192"/>
            <p:cNvCxnSpPr>
              <a:endCxn id="166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Rectangle 193"/>
          <p:cNvSpPr/>
          <p:nvPr/>
        </p:nvSpPr>
        <p:spPr>
          <a:xfrm>
            <a:off x="1626723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95" name="Group 194"/>
          <p:cNvGrpSpPr/>
          <p:nvPr/>
        </p:nvGrpSpPr>
        <p:grpSpPr>
          <a:xfrm>
            <a:off x="4204935" y="1358992"/>
            <a:ext cx="3180318" cy="3252507"/>
            <a:chOff x="786240" y="774115"/>
            <a:chExt cx="3180318" cy="3252507"/>
          </a:xfrm>
        </p:grpSpPr>
        <p:sp>
          <p:nvSpPr>
            <p:cNvPr id="196" name="Oval 195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Oval 196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Oval 19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Oval 19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Oval 19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1" name="Straight Connector 200"/>
            <p:cNvCxnSpPr>
              <a:endCxn id="196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>
              <a:stCxn id="197" idx="6"/>
              <a:endCxn id="196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>
              <a:stCxn id="198" idx="7"/>
              <a:endCxn id="197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>
              <a:stCxn id="198" idx="5"/>
              <a:endCxn id="19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Arc 21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Arc 21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Arc 22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Arc 22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3" name="Straight Connector 22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5" name="Straight Connector 224"/>
            <p:cNvCxnSpPr>
              <a:endCxn id="19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Rectangle 225"/>
          <p:cNvSpPr/>
          <p:nvPr/>
        </p:nvSpPr>
        <p:spPr>
          <a:xfrm>
            <a:off x="5659144" y="46949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131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24.6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weighted, directed graph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non-negative edge weight and 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0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049846" y="3146615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294464" y="1140447"/>
              <a:ext cx="608592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29705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8047877" y="2969494"/>
            <a:ext cx="3180318" cy="3252507"/>
            <a:chOff x="786240" y="774115"/>
            <a:chExt cx="3180318" cy="3252507"/>
          </a:xfrm>
        </p:grpSpPr>
        <p:sp>
          <p:nvSpPr>
            <p:cNvPr id="37" name="Oval 36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Connector 41"/>
            <p:cNvCxnSpPr>
              <a:endCxn id="37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8" idx="6"/>
              <a:endCxn id="37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7"/>
              <a:endCxn id="38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9" idx="5"/>
              <a:endCxn id="40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Arc 57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rc 61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endCxn id="39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/>
          <p:cNvSpPr/>
          <p:nvPr/>
        </p:nvSpPr>
        <p:spPr>
          <a:xfrm>
            <a:off x="9502086" y="6305417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endParaRPr lang="en-US" sz="2400" dirty="0"/>
          </a:p>
        </p:txBody>
      </p:sp>
      <p:sp>
        <p:nvSpPr>
          <p:cNvPr id="68" name="Rectangle 67"/>
          <p:cNvSpPr/>
          <p:nvPr/>
        </p:nvSpPr>
        <p:spPr>
          <a:xfrm>
            <a:off x="2050979" y="6301297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30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049846" y="3146615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294464" y="1140447"/>
              <a:ext cx="608592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29705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2050979" y="6301297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6223449" y="3756964"/>
                <a:ext cx="566375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suffices to show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added to set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Thereafter </a:t>
                </a:r>
                <a:r>
                  <a:rPr lang="en-US" sz="24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u.d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never changes.</a:t>
                </a:r>
                <a:endParaRPr lang="en-US" sz="2400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449" y="3756964"/>
                <a:ext cx="5663752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722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9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Initialization: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Initially,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empty and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the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invariant is trivially true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828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00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to show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828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8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01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3" name="Group 2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5" name="Oval 4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Freeform 7"/>
            <p:cNvSpPr/>
            <p:nvPr/>
          </p:nvSpPr>
          <p:spPr>
            <a:xfrm>
              <a:off x="4003589" y="4250723"/>
              <a:ext cx="1780458" cy="1491049"/>
            </a:xfrm>
            <a:custGeom>
              <a:avLst/>
              <a:gdLst>
                <a:gd name="connsiteX0" fmla="*/ 57665 w 1780458"/>
                <a:gd name="connsiteY0" fmla="*/ 131805 h 1507524"/>
                <a:gd name="connsiteX1" fmla="*/ 57665 w 1780458"/>
                <a:gd name="connsiteY1" fmla="*/ 131805 h 1507524"/>
                <a:gd name="connsiteX2" fmla="*/ 140043 w 1780458"/>
                <a:gd name="connsiteY2" fmla="*/ 214183 h 1507524"/>
                <a:gd name="connsiteX3" fmla="*/ 189470 w 1780458"/>
                <a:gd name="connsiteY3" fmla="*/ 247135 h 1507524"/>
                <a:gd name="connsiteX4" fmla="*/ 247135 w 1780458"/>
                <a:gd name="connsiteY4" fmla="*/ 280086 h 1507524"/>
                <a:gd name="connsiteX5" fmla="*/ 337751 w 1780458"/>
                <a:gd name="connsiteY5" fmla="*/ 304800 h 1507524"/>
                <a:gd name="connsiteX6" fmla="*/ 370702 w 1780458"/>
                <a:gd name="connsiteY6" fmla="*/ 296562 h 1507524"/>
                <a:gd name="connsiteX7" fmla="*/ 420129 w 1780458"/>
                <a:gd name="connsiteY7" fmla="*/ 247135 h 1507524"/>
                <a:gd name="connsiteX8" fmla="*/ 453081 w 1780458"/>
                <a:gd name="connsiteY8" fmla="*/ 222421 h 1507524"/>
                <a:gd name="connsiteX9" fmla="*/ 494270 w 1780458"/>
                <a:gd name="connsiteY9" fmla="*/ 164756 h 1507524"/>
                <a:gd name="connsiteX10" fmla="*/ 510746 w 1780458"/>
                <a:gd name="connsiteY10" fmla="*/ 140043 h 1507524"/>
                <a:gd name="connsiteX11" fmla="*/ 535459 w 1780458"/>
                <a:gd name="connsiteY11" fmla="*/ 123567 h 1507524"/>
                <a:gd name="connsiteX12" fmla="*/ 576648 w 1780458"/>
                <a:gd name="connsiteY12" fmla="*/ 65902 h 1507524"/>
                <a:gd name="connsiteX13" fmla="*/ 593124 w 1780458"/>
                <a:gd name="connsiteY13" fmla="*/ 41189 h 1507524"/>
                <a:gd name="connsiteX14" fmla="*/ 667265 w 1780458"/>
                <a:gd name="connsiteY14" fmla="*/ 0 h 1507524"/>
                <a:gd name="connsiteX15" fmla="*/ 897924 w 1780458"/>
                <a:gd name="connsiteY15" fmla="*/ 8237 h 1507524"/>
                <a:gd name="connsiteX16" fmla="*/ 939113 w 1780458"/>
                <a:gd name="connsiteY16" fmla="*/ 16475 h 1507524"/>
                <a:gd name="connsiteX17" fmla="*/ 988540 w 1780458"/>
                <a:gd name="connsiteY17" fmla="*/ 24713 h 1507524"/>
                <a:gd name="connsiteX18" fmla="*/ 1021492 w 1780458"/>
                <a:gd name="connsiteY18" fmla="*/ 32951 h 1507524"/>
                <a:gd name="connsiteX19" fmla="*/ 1128583 w 1780458"/>
                <a:gd name="connsiteY19" fmla="*/ 49427 h 1507524"/>
                <a:gd name="connsiteX20" fmla="*/ 1532238 w 1780458"/>
                <a:gd name="connsiteY20" fmla="*/ 57665 h 1507524"/>
                <a:gd name="connsiteX21" fmla="*/ 1548713 w 1780458"/>
                <a:gd name="connsiteY21" fmla="*/ 82378 h 1507524"/>
                <a:gd name="connsiteX22" fmla="*/ 1548713 w 1780458"/>
                <a:gd name="connsiteY22" fmla="*/ 164756 h 1507524"/>
                <a:gd name="connsiteX23" fmla="*/ 1532238 w 1780458"/>
                <a:gd name="connsiteY23" fmla="*/ 189470 h 1507524"/>
                <a:gd name="connsiteX24" fmla="*/ 1548713 w 1780458"/>
                <a:gd name="connsiteY24" fmla="*/ 304800 h 1507524"/>
                <a:gd name="connsiteX25" fmla="*/ 1573427 w 1780458"/>
                <a:gd name="connsiteY25" fmla="*/ 411892 h 1507524"/>
                <a:gd name="connsiteX26" fmla="*/ 1581665 w 1780458"/>
                <a:gd name="connsiteY26" fmla="*/ 436605 h 1507524"/>
                <a:gd name="connsiteX27" fmla="*/ 1606378 w 1780458"/>
                <a:gd name="connsiteY27" fmla="*/ 453081 h 1507524"/>
                <a:gd name="connsiteX28" fmla="*/ 1631092 w 1780458"/>
                <a:gd name="connsiteY28" fmla="*/ 502508 h 1507524"/>
                <a:gd name="connsiteX29" fmla="*/ 1688756 w 1780458"/>
                <a:gd name="connsiteY29" fmla="*/ 535459 h 1507524"/>
                <a:gd name="connsiteX30" fmla="*/ 1738183 w 1780458"/>
                <a:gd name="connsiteY30" fmla="*/ 551935 h 1507524"/>
                <a:gd name="connsiteX31" fmla="*/ 1762897 w 1780458"/>
                <a:gd name="connsiteY31" fmla="*/ 568410 h 1507524"/>
                <a:gd name="connsiteX32" fmla="*/ 1771135 w 1780458"/>
                <a:gd name="connsiteY32" fmla="*/ 675502 h 1507524"/>
                <a:gd name="connsiteX33" fmla="*/ 1754659 w 1780458"/>
                <a:gd name="connsiteY33" fmla="*/ 700216 h 1507524"/>
                <a:gd name="connsiteX34" fmla="*/ 1729946 w 1780458"/>
                <a:gd name="connsiteY34" fmla="*/ 716692 h 1507524"/>
                <a:gd name="connsiteX35" fmla="*/ 1713470 w 1780458"/>
                <a:gd name="connsiteY35" fmla="*/ 741405 h 1507524"/>
                <a:gd name="connsiteX36" fmla="*/ 1688756 w 1780458"/>
                <a:gd name="connsiteY36" fmla="*/ 749643 h 1507524"/>
                <a:gd name="connsiteX37" fmla="*/ 1647567 w 1780458"/>
                <a:gd name="connsiteY37" fmla="*/ 823783 h 1507524"/>
                <a:gd name="connsiteX38" fmla="*/ 1655805 w 1780458"/>
                <a:gd name="connsiteY38" fmla="*/ 930875 h 1507524"/>
                <a:gd name="connsiteX39" fmla="*/ 1680519 w 1780458"/>
                <a:gd name="connsiteY39" fmla="*/ 955589 h 1507524"/>
                <a:gd name="connsiteX40" fmla="*/ 1696994 w 1780458"/>
                <a:gd name="connsiteY40" fmla="*/ 980302 h 1507524"/>
                <a:gd name="connsiteX41" fmla="*/ 1713470 w 1780458"/>
                <a:gd name="connsiteY41" fmla="*/ 1062681 h 1507524"/>
                <a:gd name="connsiteX42" fmla="*/ 1721708 w 1780458"/>
                <a:gd name="connsiteY42" fmla="*/ 1087394 h 1507524"/>
                <a:gd name="connsiteX43" fmla="*/ 1746421 w 1780458"/>
                <a:gd name="connsiteY43" fmla="*/ 1136821 h 1507524"/>
                <a:gd name="connsiteX44" fmla="*/ 1738183 w 1780458"/>
                <a:gd name="connsiteY44" fmla="*/ 1210962 h 1507524"/>
                <a:gd name="connsiteX45" fmla="*/ 1696994 w 1780458"/>
                <a:gd name="connsiteY45" fmla="*/ 1252151 h 1507524"/>
                <a:gd name="connsiteX46" fmla="*/ 1647567 w 1780458"/>
                <a:gd name="connsiteY46" fmla="*/ 1293340 h 1507524"/>
                <a:gd name="connsiteX47" fmla="*/ 1606378 w 1780458"/>
                <a:gd name="connsiteY47" fmla="*/ 1326292 h 1507524"/>
                <a:gd name="connsiteX48" fmla="*/ 1589902 w 1780458"/>
                <a:gd name="connsiteY48" fmla="*/ 1351005 h 1507524"/>
                <a:gd name="connsiteX49" fmla="*/ 1540475 w 1780458"/>
                <a:gd name="connsiteY49" fmla="*/ 1383956 h 1507524"/>
                <a:gd name="connsiteX50" fmla="*/ 1499286 w 1780458"/>
                <a:gd name="connsiteY50" fmla="*/ 1425146 h 1507524"/>
                <a:gd name="connsiteX51" fmla="*/ 1449859 w 1780458"/>
                <a:gd name="connsiteY51" fmla="*/ 1458097 h 1507524"/>
                <a:gd name="connsiteX52" fmla="*/ 1400432 w 1780458"/>
                <a:gd name="connsiteY52" fmla="*/ 1491048 h 1507524"/>
                <a:gd name="connsiteX53" fmla="*/ 1351005 w 1780458"/>
                <a:gd name="connsiteY53" fmla="*/ 1507524 h 1507524"/>
                <a:gd name="connsiteX54" fmla="*/ 1145059 w 1780458"/>
                <a:gd name="connsiteY54" fmla="*/ 1499286 h 1507524"/>
                <a:gd name="connsiteX55" fmla="*/ 1103870 w 1780458"/>
                <a:gd name="connsiteY55" fmla="*/ 1491048 h 1507524"/>
                <a:gd name="connsiteX56" fmla="*/ 988540 w 1780458"/>
                <a:gd name="connsiteY56" fmla="*/ 1474573 h 1507524"/>
                <a:gd name="connsiteX57" fmla="*/ 963827 w 1780458"/>
                <a:gd name="connsiteY57" fmla="*/ 1466335 h 1507524"/>
                <a:gd name="connsiteX58" fmla="*/ 856735 w 1780458"/>
                <a:gd name="connsiteY58" fmla="*/ 1449859 h 1507524"/>
                <a:gd name="connsiteX59" fmla="*/ 823783 w 1780458"/>
                <a:gd name="connsiteY59" fmla="*/ 1441621 h 1507524"/>
                <a:gd name="connsiteX60" fmla="*/ 782594 w 1780458"/>
                <a:gd name="connsiteY60" fmla="*/ 1433383 h 1507524"/>
                <a:gd name="connsiteX61" fmla="*/ 724929 w 1780458"/>
                <a:gd name="connsiteY61" fmla="*/ 1425146 h 1507524"/>
                <a:gd name="connsiteX62" fmla="*/ 609600 w 1780458"/>
                <a:gd name="connsiteY62" fmla="*/ 1408670 h 1507524"/>
                <a:gd name="connsiteX63" fmla="*/ 584886 w 1780458"/>
                <a:gd name="connsiteY63" fmla="*/ 1400432 h 1507524"/>
                <a:gd name="connsiteX64" fmla="*/ 494270 w 1780458"/>
                <a:gd name="connsiteY64" fmla="*/ 1383956 h 1507524"/>
                <a:gd name="connsiteX65" fmla="*/ 469556 w 1780458"/>
                <a:gd name="connsiteY65" fmla="*/ 1375719 h 1507524"/>
                <a:gd name="connsiteX66" fmla="*/ 403654 w 1780458"/>
                <a:gd name="connsiteY66" fmla="*/ 1318054 h 1507524"/>
                <a:gd name="connsiteX67" fmla="*/ 378940 w 1780458"/>
                <a:gd name="connsiteY67" fmla="*/ 1301578 h 1507524"/>
                <a:gd name="connsiteX68" fmla="*/ 337751 w 1780458"/>
                <a:gd name="connsiteY68" fmla="*/ 1268627 h 1507524"/>
                <a:gd name="connsiteX69" fmla="*/ 321275 w 1780458"/>
                <a:gd name="connsiteY69" fmla="*/ 1243913 h 1507524"/>
                <a:gd name="connsiteX70" fmla="*/ 296562 w 1780458"/>
                <a:gd name="connsiteY70" fmla="*/ 1227437 h 1507524"/>
                <a:gd name="connsiteX71" fmla="*/ 238897 w 1780458"/>
                <a:gd name="connsiteY71" fmla="*/ 1153297 h 1507524"/>
                <a:gd name="connsiteX72" fmla="*/ 222421 w 1780458"/>
                <a:gd name="connsiteY72" fmla="*/ 1128583 h 1507524"/>
                <a:gd name="connsiteX73" fmla="*/ 197708 w 1780458"/>
                <a:gd name="connsiteY73" fmla="*/ 1103870 h 1507524"/>
                <a:gd name="connsiteX74" fmla="*/ 172994 w 1780458"/>
                <a:gd name="connsiteY74" fmla="*/ 1054443 h 1507524"/>
                <a:gd name="connsiteX75" fmla="*/ 148281 w 1780458"/>
                <a:gd name="connsiteY75" fmla="*/ 1005016 h 1507524"/>
                <a:gd name="connsiteX76" fmla="*/ 156519 w 1780458"/>
                <a:gd name="connsiteY76" fmla="*/ 757881 h 1507524"/>
                <a:gd name="connsiteX77" fmla="*/ 148281 w 1780458"/>
                <a:gd name="connsiteY77" fmla="*/ 642551 h 1507524"/>
                <a:gd name="connsiteX78" fmla="*/ 131805 w 1780458"/>
                <a:gd name="connsiteY78" fmla="*/ 593124 h 1507524"/>
                <a:gd name="connsiteX79" fmla="*/ 82378 w 1780458"/>
                <a:gd name="connsiteY79" fmla="*/ 510746 h 1507524"/>
                <a:gd name="connsiteX80" fmla="*/ 65902 w 1780458"/>
                <a:gd name="connsiteY80" fmla="*/ 486032 h 1507524"/>
                <a:gd name="connsiteX81" fmla="*/ 49427 w 1780458"/>
                <a:gd name="connsiteY81" fmla="*/ 461319 h 1507524"/>
                <a:gd name="connsiteX82" fmla="*/ 24713 w 1780458"/>
                <a:gd name="connsiteY82" fmla="*/ 428367 h 1507524"/>
                <a:gd name="connsiteX83" fmla="*/ 0 w 1780458"/>
                <a:gd name="connsiteY83" fmla="*/ 345989 h 1507524"/>
                <a:gd name="connsiteX84" fmla="*/ 8238 w 1780458"/>
                <a:gd name="connsiteY84" fmla="*/ 230659 h 1507524"/>
                <a:gd name="connsiteX85" fmla="*/ 16475 w 1780458"/>
                <a:gd name="connsiteY85" fmla="*/ 205946 h 1507524"/>
                <a:gd name="connsiteX86" fmla="*/ 57665 w 1780458"/>
                <a:gd name="connsiteY86" fmla="*/ 131805 h 150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780458" h="1507524">
                  <a:moveTo>
                    <a:pt x="57665" y="131805"/>
                  </a:moveTo>
                  <a:lnTo>
                    <a:pt x="57665" y="131805"/>
                  </a:lnTo>
                  <a:cubicBezTo>
                    <a:pt x="85124" y="159264"/>
                    <a:pt x="107732" y="192642"/>
                    <a:pt x="140043" y="214183"/>
                  </a:cubicBezTo>
                  <a:lnTo>
                    <a:pt x="189470" y="247135"/>
                  </a:lnTo>
                  <a:cubicBezTo>
                    <a:pt x="211760" y="261995"/>
                    <a:pt x="221008" y="269635"/>
                    <a:pt x="247135" y="280086"/>
                  </a:cubicBezTo>
                  <a:cubicBezTo>
                    <a:pt x="288942" y="296809"/>
                    <a:pt x="296385" y="296527"/>
                    <a:pt x="337751" y="304800"/>
                  </a:cubicBezTo>
                  <a:cubicBezTo>
                    <a:pt x="348735" y="302054"/>
                    <a:pt x="360576" y="301625"/>
                    <a:pt x="370702" y="296562"/>
                  </a:cubicBezTo>
                  <a:cubicBezTo>
                    <a:pt x="424551" y="269637"/>
                    <a:pt x="386681" y="280583"/>
                    <a:pt x="420129" y="247135"/>
                  </a:cubicBezTo>
                  <a:cubicBezTo>
                    <a:pt x="429838" y="237426"/>
                    <a:pt x="442097" y="230659"/>
                    <a:pt x="453081" y="222421"/>
                  </a:cubicBezTo>
                  <a:cubicBezTo>
                    <a:pt x="491895" y="164199"/>
                    <a:pt x="443198" y="236255"/>
                    <a:pt x="494270" y="164756"/>
                  </a:cubicBezTo>
                  <a:cubicBezTo>
                    <a:pt x="500025" y="156700"/>
                    <a:pt x="503745" y="147044"/>
                    <a:pt x="510746" y="140043"/>
                  </a:cubicBezTo>
                  <a:cubicBezTo>
                    <a:pt x="517747" y="133042"/>
                    <a:pt x="527221" y="129059"/>
                    <a:pt x="535459" y="123567"/>
                  </a:cubicBezTo>
                  <a:cubicBezTo>
                    <a:pt x="574288" y="65326"/>
                    <a:pt x="525559" y="137428"/>
                    <a:pt x="576648" y="65902"/>
                  </a:cubicBezTo>
                  <a:cubicBezTo>
                    <a:pt x="582403" y="57846"/>
                    <a:pt x="585673" y="47709"/>
                    <a:pt x="593124" y="41189"/>
                  </a:cubicBezTo>
                  <a:cubicBezTo>
                    <a:pt x="627990" y="10681"/>
                    <a:pt x="633319" y="11314"/>
                    <a:pt x="667265" y="0"/>
                  </a:cubicBezTo>
                  <a:cubicBezTo>
                    <a:pt x="744151" y="2746"/>
                    <a:pt x="821130" y="3583"/>
                    <a:pt x="897924" y="8237"/>
                  </a:cubicBezTo>
                  <a:cubicBezTo>
                    <a:pt x="911900" y="9084"/>
                    <a:pt x="925337" y="13970"/>
                    <a:pt x="939113" y="16475"/>
                  </a:cubicBezTo>
                  <a:cubicBezTo>
                    <a:pt x="955547" y="19463"/>
                    <a:pt x="972161" y="21437"/>
                    <a:pt x="988540" y="24713"/>
                  </a:cubicBezTo>
                  <a:cubicBezTo>
                    <a:pt x="999642" y="26933"/>
                    <a:pt x="1010440" y="30495"/>
                    <a:pt x="1021492" y="32951"/>
                  </a:cubicBezTo>
                  <a:cubicBezTo>
                    <a:pt x="1052672" y="39880"/>
                    <a:pt x="1098936" y="48387"/>
                    <a:pt x="1128583" y="49427"/>
                  </a:cubicBezTo>
                  <a:cubicBezTo>
                    <a:pt x="1263080" y="54146"/>
                    <a:pt x="1397686" y="54919"/>
                    <a:pt x="1532238" y="57665"/>
                  </a:cubicBezTo>
                  <a:cubicBezTo>
                    <a:pt x="1537730" y="65903"/>
                    <a:pt x="1544285" y="73523"/>
                    <a:pt x="1548713" y="82378"/>
                  </a:cubicBezTo>
                  <a:cubicBezTo>
                    <a:pt x="1562877" y="110706"/>
                    <a:pt x="1558659" y="131603"/>
                    <a:pt x="1548713" y="164756"/>
                  </a:cubicBezTo>
                  <a:cubicBezTo>
                    <a:pt x="1545868" y="174239"/>
                    <a:pt x="1537730" y="181232"/>
                    <a:pt x="1532238" y="189470"/>
                  </a:cubicBezTo>
                  <a:cubicBezTo>
                    <a:pt x="1547791" y="313906"/>
                    <a:pt x="1532879" y="201879"/>
                    <a:pt x="1548713" y="304800"/>
                  </a:cubicBezTo>
                  <a:cubicBezTo>
                    <a:pt x="1560935" y="384240"/>
                    <a:pt x="1549444" y="339946"/>
                    <a:pt x="1573427" y="411892"/>
                  </a:cubicBezTo>
                  <a:cubicBezTo>
                    <a:pt x="1576173" y="420130"/>
                    <a:pt x="1574440" y="431788"/>
                    <a:pt x="1581665" y="436605"/>
                  </a:cubicBezTo>
                  <a:lnTo>
                    <a:pt x="1606378" y="453081"/>
                  </a:lnTo>
                  <a:cubicBezTo>
                    <a:pt x="1613078" y="473181"/>
                    <a:pt x="1615123" y="486539"/>
                    <a:pt x="1631092" y="502508"/>
                  </a:cubicBezTo>
                  <a:cubicBezTo>
                    <a:pt x="1640998" y="512414"/>
                    <a:pt x="1677990" y="531153"/>
                    <a:pt x="1688756" y="535459"/>
                  </a:cubicBezTo>
                  <a:cubicBezTo>
                    <a:pt x="1704881" y="541909"/>
                    <a:pt x="1723733" y="542302"/>
                    <a:pt x="1738183" y="551935"/>
                  </a:cubicBezTo>
                  <a:lnTo>
                    <a:pt x="1762897" y="568410"/>
                  </a:lnTo>
                  <a:cubicBezTo>
                    <a:pt x="1779976" y="619645"/>
                    <a:pt x="1788020" y="619218"/>
                    <a:pt x="1771135" y="675502"/>
                  </a:cubicBezTo>
                  <a:cubicBezTo>
                    <a:pt x="1768290" y="684985"/>
                    <a:pt x="1761660" y="693215"/>
                    <a:pt x="1754659" y="700216"/>
                  </a:cubicBezTo>
                  <a:cubicBezTo>
                    <a:pt x="1747658" y="707217"/>
                    <a:pt x="1738184" y="711200"/>
                    <a:pt x="1729946" y="716692"/>
                  </a:cubicBezTo>
                  <a:cubicBezTo>
                    <a:pt x="1724454" y="724930"/>
                    <a:pt x="1721201" y="735220"/>
                    <a:pt x="1713470" y="741405"/>
                  </a:cubicBezTo>
                  <a:cubicBezTo>
                    <a:pt x="1706689" y="746830"/>
                    <a:pt x="1694896" y="743503"/>
                    <a:pt x="1688756" y="749643"/>
                  </a:cubicBezTo>
                  <a:cubicBezTo>
                    <a:pt x="1660431" y="777968"/>
                    <a:pt x="1657926" y="792707"/>
                    <a:pt x="1647567" y="823783"/>
                  </a:cubicBezTo>
                  <a:cubicBezTo>
                    <a:pt x="1650313" y="859480"/>
                    <a:pt x="1647121" y="896141"/>
                    <a:pt x="1655805" y="930875"/>
                  </a:cubicBezTo>
                  <a:cubicBezTo>
                    <a:pt x="1658631" y="942177"/>
                    <a:pt x="1673061" y="946639"/>
                    <a:pt x="1680519" y="955589"/>
                  </a:cubicBezTo>
                  <a:cubicBezTo>
                    <a:pt x="1686857" y="963195"/>
                    <a:pt x="1691502" y="972064"/>
                    <a:pt x="1696994" y="980302"/>
                  </a:cubicBezTo>
                  <a:cubicBezTo>
                    <a:pt x="1703467" y="1019139"/>
                    <a:pt x="1703639" y="1028273"/>
                    <a:pt x="1713470" y="1062681"/>
                  </a:cubicBezTo>
                  <a:cubicBezTo>
                    <a:pt x="1715856" y="1071030"/>
                    <a:pt x="1717825" y="1079627"/>
                    <a:pt x="1721708" y="1087394"/>
                  </a:cubicBezTo>
                  <a:cubicBezTo>
                    <a:pt x="1753646" y="1151271"/>
                    <a:pt x="1725715" y="1074705"/>
                    <a:pt x="1746421" y="1136821"/>
                  </a:cubicBezTo>
                  <a:cubicBezTo>
                    <a:pt x="1743675" y="1161535"/>
                    <a:pt x="1744214" y="1186839"/>
                    <a:pt x="1738183" y="1210962"/>
                  </a:cubicBezTo>
                  <a:cubicBezTo>
                    <a:pt x="1731824" y="1236398"/>
                    <a:pt x="1714337" y="1237698"/>
                    <a:pt x="1696994" y="1252151"/>
                  </a:cubicBezTo>
                  <a:cubicBezTo>
                    <a:pt x="1633573" y="1305003"/>
                    <a:pt x="1708921" y="1252440"/>
                    <a:pt x="1647567" y="1293340"/>
                  </a:cubicBezTo>
                  <a:cubicBezTo>
                    <a:pt x="1600357" y="1364160"/>
                    <a:pt x="1663217" y="1280822"/>
                    <a:pt x="1606378" y="1326292"/>
                  </a:cubicBezTo>
                  <a:cubicBezTo>
                    <a:pt x="1598647" y="1332477"/>
                    <a:pt x="1597353" y="1344486"/>
                    <a:pt x="1589902" y="1351005"/>
                  </a:cubicBezTo>
                  <a:cubicBezTo>
                    <a:pt x="1575000" y="1364044"/>
                    <a:pt x="1540475" y="1383956"/>
                    <a:pt x="1540475" y="1383956"/>
                  </a:cubicBezTo>
                  <a:cubicBezTo>
                    <a:pt x="1510272" y="1429264"/>
                    <a:pt x="1540474" y="1390822"/>
                    <a:pt x="1499286" y="1425146"/>
                  </a:cubicBezTo>
                  <a:cubicBezTo>
                    <a:pt x="1458148" y="1459427"/>
                    <a:pt x="1493291" y="1443620"/>
                    <a:pt x="1449859" y="1458097"/>
                  </a:cubicBezTo>
                  <a:cubicBezTo>
                    <a:pt x="1433383" y="1469081"/>
                    <a:pt x="1419217" y="1484786"/>
                    <a:pt x="1400432" y="1491048"/>
                  </a:cubicBezTo>
                  <a:lnTo>
                    <a:pt x="1351005" y="1507524"/>
                  </a:lnTo>
                  <a:cubicBezTo>
                    <a:pt x="1282356" y="1504778"/>
                    <a:pt x="1213610" y="1503856"/>
                    <a:pt x="1145059" y="1499286"/>
                  </a:cubicBezTo>
                  <a:cubicBezTo>
                    <a:pt x="1131088" y="1498355"/>
                    <a:pt x="1117646" y="1493553"/>
                    <a:pt x="1103870" y="1491048"/>
                  </a:cubicBezTo>
                  <a:cubicBezTo>
                    <a:pt x="1051604" y="1481545"/>
                    <a:pt x="1045835" y="1481734"/>
                    <a:pt x="988540" y="1474573"/>
                  </a:cubicBezTo>
                  <a:cubicBezTo>
                    <a:pt x="980302" y="1471827"/>
                    <a:pt x="972304" y="1468219"/>
                    <a:pt x="963827" y="1466335"/>
                  </a:cubicBezTo>
                  <a:cubicBezTo>
                    <a:pt x="927997" y="1458373"/>
                    <a:pt x="892865" y="1456428"/>
                    <a:pt x="856735" y="1449859"/>
                  </a:cubicBezTo>
                  <a:cubicBezTo>
                    <a:pt x="845596" y="1447834"/>
                    <a:pt x="834835" y="1444077"/>
                    <a:pt x="823783" y="1441621"/>
                  </a:cubicBezTo>
                  <a:cubicBezTo>
                    <a:pt x="810115" y="1438584"/>
                    <a:pt x="796405" y="1435685"/>
                    <a:pt x="782594" y="1433383"/>
                  </a:cubicBezTo>
                  <a:cubicBezTo>
                    <a:pt x="763441" y="1430191"/>
                    <a:pt x="744120" y="1428098"/>
                    <a:pt x="724929" y="1425146"/>
                  </a:cubicBezTo>
                  <a:cubicBezTo>
                    <a:pt x="621956" y="1409305"/>
                    <a:pt x="734103" y="1424233"/>
                    <a:pt x="609600" y="1408670"/>
                  </a:cubicBezTo>
                  <a:cubicBezTo>
                    <a:pt x="601362" y="1405924"/>
                    <a:pt x="593310" y="1402538"/>
                    <a:pt x="584886" y="1400432"/>
                  </a:cubicBezTo>
                  <a:cubicBezTo>
                    <a:pt x="524944" y="1385446"/>
                    <a:pt x="560340" y="1398638"/>
                    <a:pt x="494270" y="1383956"/>
                  </a:cubicBezTo>
                  <a:cubicBezTo>
                    <a:pt x="485793" y="1382072"/>
                    <a:pt x="477794" y="1378465"/>
                    <a:pt x="469556" y="1375719"/>
                  </a:cubicBezTo>
                  <a:cubicBezTo>
                    <a:pt x="442098" y="1334529"/>
                    <a:pt x="461319" y="1356497"/>
                    <a:pt x="403654" y="1318054"/>
                  </a:cubicBezTo>
                  <a:lnTo>
                    <a:pt x="378940" y="1301578"/>
                  </a:lnTo>
                  <a:cubicBezTo>
                    <a:pt x="331726" y="1230755"/>
                    <a:pt x="394594" y="1314101"/>
                    <a:pt x="337751" y="1268627"/>
                  </a:cubicBezTo>
                  <a:cubicBezTo>
                    <a:pt x="330020" y="1262442"/>
                    <a:pt x="328276" y="1250914"/>
                    <a:pt x="321275" y="1243913"/>
                  </a:cubicBezTo>
                  <a:cubicBezTo>
                    <a:pt x="314274" y="1236912"/>
                    <a:pt x="304800" y="1232929"/>
                    <a:pt x="296562" y="1227437"/>
                  </a:cubicBezTo>
                  <a:cubicBezTo>
                    <a:pt x="213282" y="1102515"/>
                    <a:pt x="303422" y="1230726"/>
                    <a:pt x="238897" y="1153297"/>
                  </a:cubicBezTo>
                  <a:cubicBezTo>
                    <a:pt x="232559" y="1145691"/>
                    <a:pt x="228759" y="1136189"/>
                    <a:pt x="222421" y="1128583"/>
                  </a:cubicBezTo>
                  <a:cubicBezTo>
                    <a:pt x="214963" y="1119633"/>
                    <a:pt x="205166" y="1112820"/>
                    <a:pt x="197708" y="1103870"/>
                  </a:cubicBezTo>
                  <a:cubicBezTo>
                    <a:pt x="168199" y="1068459"/>
                    <a:pt x="191569" y="1091594"/>
                    <a:pt x="172994" y="1054443"/>
                  </a:cubicBezTo>
                  <a:cubicBezTo>
                    <a:pt x="141056" y="990566"/>
                    <a:pt x="168987" y="1067132"/>
                    <a:pt x="148281" y="1005016"/>
                  </a:cubicBezTo>
                  <a:cubicBezTo>
                    <a:pt x="151027" y="922638"/>
                    <a:pt x="156519" y="840305"/>
                    <a:pt x="156519" y="757881"/>
                  </a:cubicBezTo>
                  <a:cubicBezTo>
                    <a:pt x="156519" y="719340"/>
                    <a:pt x="153998" y="680666"/>
                    <a:pt x="148281" y="642551"/>
                  </a:cubicBezTo>
                  <a:cubicBezTo>
                    <a:pt x="145705" y="625376"/>
                    <a:pt x="139572" y="608657"/>
                    <a:pt x="131805" y="593124"/>
                  </a:cubicBezTo>
                  <a:cubicBezTo>
                    <a:pt x="106474" y="542463"/>
                    <a:pt x="122140" y="570390"/>
                    <a:pt x="82378" y="510746"/>
                  </a:cubicBezTo>
                  <a:lnTo>
                    <a:pt x="65902" y="486032"/>
                  </a:lnTo>
                  <a:cubicBezTo>
                    <a:pt x="60410" y="477794"/>
                    <a:pt x="55367" y="469239"/>
                    <a:pt x="49427" y="461319"/>
                  </a:cubicBezTo>
                  <a:lnTo>
                    <a:pt x="24713" y="428367"/>
                  </a:lnTo>
                  <a:cubicBezTo>
                    <a:pt x="4658" y="368199"/>
                    <a:pt x="12450" y="395788"/>
                    <a:pt x="0" y="345989"/>
                  </a:cubicBezTo>
                  <a:cubicBezTo>
                    <a:pt x="2746" y="307546"/>
                    <a:pt x="3735" y="268936"/>
                    <a:pt x="8238" y="230659"/>
                  </a:cubicBezTo>
                  <a:cubicBezTo>
                    <a:pt x="9253" y="222035"/>
                    <a:pt x="12258" y="213536"/>
                    <a:pt x="16475" y="205946"/>
                  </a:cubicBezTo>
                  <a:lnTo>
                    <a:pt x="57665" y="13180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4833845" y="435644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040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Definitely,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57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10" name="Group 9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Freeform 10"/>
            <p:cNvSpPr/>
            <p:nvPr/>
          </p:nvSpPr>
          <p:spPr>
            <a:xfrm>
              <a:off x="4003589" y="4234249"/>
              <a:ext cx="1780458" cy="1507524"/>
            </a:xfrm>
            <a:custGeom>
              <a:avLst/>
              <a:gdLst>
                <a:gd name="connsiteX0" fmla="*/ 57665 w 1780458"/>
                <a:gd name="connsiteY0" fmla="*/ 131805 h 1507524"/>
                <a:gd name="connsiteX1" fmla="*/ 57665 w 1780458"/>
                <a:gd name="connsiteY1" fmla="*/ 131805 h 1507524"/>
                <a:gd name="connsiteX2" fmla="*/ 140043 w 1780458"/>
                <a:gd name="connsiteY2" fmla="*/ 214183 h 1507524"/>
                <a:gd name="connsiteX3" fmla="*/ 189470 w 1780458"/>
                <a:gd name="connsiteY3" fmla="*/ 247135 h 1507524"/>
                <a:gd name="connsiteX4" fmla="*/ 247135 w 1780458"/>
                <a:gd name="connsiteY4" fmla="*/ 280086 h 1507524"/>
                <a:gd name="connsiteX5" fmla="*/ 337751 w 1780458"/>
                <a:gd name="connsiteY5" fmla="*/ 304800 h 1507524"/>
                <a:gd name="connsiteX6" fmla="*/ 370702 w 1780458"/>
                <a:gd name="connsiteY6" fmla="*/ 296562 h 1507524"/>
                <a:gd name="connsiteX7" fmla="*/ 420129 w 1780458"/>
                <a:gd name="connsiteY7" fmla="*/ 247135 h 1507524"/>
                <a:gd name="connsiteX8" fmla="*/ 453081 w 1780458"/>
                <a:gd name="connsiteY8" fmla="*/ 222421 h 1507524"/>
                <a:gd name="connsiteX9" fmla="*/ 494270 w 1780458"/>
                <a:gd name="connsiteY9" fmla="*/ 164756 h 1507524"/>
                <a:gd name="connsiteX10" fmla="*/ 510746 w 1780458"/>
                <a:gd name="connsiteY10" fmla="*/ 140043 h 1507524"/>
                <a:gd name="connsiteX11" fmla="*/ 535459 w 1780458"/>
                <a:gd name="connsiteY11" fmla="*/ 123567 h 1507524"/>
                <a:gd name="connsiteX12" fmla="*/ 576648 w 1780458"/>
                <a:gd name="connsiteY12" fmla="*/ 65902 h 1507524"/>
                <a:gd name="connsiteX13" fmla="*/ 593124 w 1780458"/>
                <a:gd name="connsiteY13" fmla="*/ 41189 h 1507524"/>
                <a:gd name="connsiteX14" fmla="*/ 667265 w 1780458"/>
                <a:gd name="connsiteY14" fmla="*/ 0 h 1507524"/>
                <a:gd name="connsiteX15" fmla="*/ 897924 w 1780458"/>
                <a:gd name="connsiteY15" fmla="*/ 8237 h 1507524"/>
                <a:gd name="connsiteX16" fmla="*/ 939113 w 1780458"/>
                <a:gd name="connsiteY16" fmla="*/ 16475 h 1507524"/>
                <a:gd name="connsiteX17" fmla="*/ 988540 w 1780458"/>
                <a:gd name="connsiteY17" fmla="*/ 24713 h 1507524"/>
                <a:gd name="connsiteX18" fmla="*/ 1021492 w 1780458"/>
                <a:gd name="connsiteY18" fmla="*/ 32951 h 1507524"/>
                <a:gd name="connsiteX19" fmla="*/ 1128583 w 1780458"/>
                <a:gd name="connsiteY19" fmla="*/ 49427 h 1507524"/>
                <a:gd name="connsiteX20" fmla="*/ 1532238 w 1780458"/>
                <a:gd name="connsiteY20" fmla="*/ 57665 h 1507524"/>
                <a:gd name="connsiteX21" fmla="*/ 1548713 w 1780458"/>
                <a:gd name="connsiteY21" fmla="*/ 82378 h 1507524"/>
                <a:gd name="connsiteX22" fmla="*/ 1548713 w 1780458"/>
                <a:gd name="connsiteY22" fmla="*/ 164756 h 1507524"/>
                <a:gd name="connsiteX23" fmla="*/ 1532238 w 1780458"/>
                <a:gd name="connsiteY23" fmla="*/ 189470 h 1507524"/>
                <a:gd name="connsiteX24" fmla="*/ 1548713 w 1780458"/>
                <a:gd name="connsiteY24" fmla="*/ 304800 h 1507524"/>
                <a:gd name="connsiteX25" fmla="*/ 1573427 w 1780458"/>
                <a:gd name="connsiteY25" fmla="*/ 411892 h 1507524"/>
                <a:gd name="connsiteX26" fmla="*/ 1581665 w 1780458"/>
                <a:gd name="connsiteY26" fmla="*/ 436605 h 1507524"/>
                <a:gd name="connsiteX27" fmla="*/ 1606378 w 1780458"/>
                <a:gd name="connsiteY27" fmla="*/ 453081 h 1507524"/>
                <a:gd name="connsiteX28" fmla="*/ 1631092 w 1780458"/>
                <a:gd name="connsiteY28" fmla="*/ 502508 h 1507524"/>
                <a:gd name="connsiteX29" fmla="*/ 1688756 w 1780458"/>
                <a:gd name="connsiteY29" fmla="*/ 535459 h 1507524"/>
                <a:gd name="connsiteX30" fmla="*/ 1738183 w 1780458"/>
                <a:gd name="connsiteY30" fmla="*/ 551935 h 1507524"/>
                <a:gd name="connsiteX31" fmla="*/ 1762897 w 1780458"/>
                <a:gd name="connsiteY31" fmla="*/ 568410 h 1507524"/>
                <a:gd name="connsiteX32" fmla="*/ 1771135 w 1780458"/>
                <a:gd name="connsiteY32" fmla="*/ 675502 h 1507524"/>
                <a:gd name="connsiteX33" fmla="*/ 1754659 w 1780458"/>
                <a:gd name="connsiteY33" fmla="*/ 700216 h 1507524"/>
                <a:gd name="connsiteX34" fmla="*/ 1729946 w 1780458"/>
                <a:gd name="connsiteY34" fmla="*/ 716692 h 1507524"/>
                <a:gd name="connsiteX35" fmla="*/ 1713470 w 1780458"/>
                <a:gd name="connsiteY35" fmla="*/ 741405 h 1507524"/>
                <a:gd name="connsiteX36" fmla="*/ 1688756 w 1780458"/>
                <a:gd name="connsiteY36" fmla="*/ 749643 h 1507524"/>
                <a:gd name="connsiteX37" fmla="*/ 1647567 w 1780458"/>
                <a:gd name="connsiteY37" fmla="*/ 823783 h 1507524"/>
                <a:gd name="connsiteX38" fmla="*/ 1655805 w 1780458"/>
                <a:gd name="connsiteY38" fmla="*/ 930875 h 1507524"/>
                <a:gd name="connsiteX39" fmla="*/ 1680519 w 1780458"/>
                <a:gd name="connsiteY39" fmla="*/ 955589 h 1507524"/>
                <a:gd name="connsiteX40" fmla="*/ 1696994 w 1780458"/>
                <a:gd name="connsiteY40" fmla="*/ 980302 h 1507524"/>
                <a:gd name="connsiteX41" fmla="*/ 1713470 w 1780458"/>
                <a:gd name="connsiteY41" fmla="*/ 1062681 h 1507524"/>
                <a:gd name="connsiteX42" fmla="*/ 1721708 w 1780458"/>
                <a:gd name="connsiteY42" fmla="*/ 1087394 h 1507524"/>
                <a:gd name="connsiteX43" fmla="*/ 1746421 w 1780458"/>
                <a:gd name="connsiteY43" fmla="*/ 1136821 h 1507524"/>
                <a:gd name="connsiteX44" fmla="*/ 1738183 w 1780458"/>
                <a:gd name="connsiteY44" fmla="*/ 1210962 h 1507524"/>
                <a:gd name="connsiteX45" fmla="*/ 1696994 w 1780458"/>
                <a:gd name="connsiteY45" fmla="*/ 1252151 h 1507524"/>
                <a:gd name="connsiteX46" fmla="*/ 1647567 w 1780458"/>
                <a:gd name="connsiteY46" fmla="*/ 1293340 h 1507524"/>
                <a:gd name="connsiteX47" fmla="*/ 1606378 w 1780458"/>
                <a:gd name="connsiteY47" fmla="*/ 1326292 h 1507524"/>
                <a:gd name="connsiteX48" fmla="*/ 1589902 w 1780458"/>
                <a:gd name="connsiteY48" fmla="*/ 1351005 h 1507524"/>
                <a:gd name="connsiteX49" fmla="*/ 1540475 w 1780458"/>
                <a:gd name="connsiteY49" fmla="*/ 1383956 h 1507524"/>
                <a:gd name="connsiteX50" fmla="*/ 1499286 w 1780458"/>
                <a:gd name="connsiteY50" fmla="*/ 1425146 h 1507524"/>
                <a:gd name="connsiteX51" fmla="*/ 1449859 w 1780458"/>
                <a:gd name="connsiteY51" fmla="*/ 1458097 h 1507524"/>
                <a:gd name="connsiteX52" fmla="*/ 1400432 w 1780458"/>
                <a:gd name="connsiteY52" fmla="*/ 1491048 h 1507524"/>
                <a:gd name="connsiteX53" fmla="*/ 1351005 w 1780458"/>
                <a:gd name="connsiteY53" fmla="*/ 1507524 h 1507524"/>
                <a:gd name="connsiteX54" fmla="*/ 1145059 w 1780458"/>
                <a:gd name="connsiteY54" fmla="*/ 1499286 h 1507524"/>
                <a:gd name="connsiteX55" fmla="*/ 1103870 w 1780458"/>
                <a:gd name="connsiteY55" fmla="*/ 1491048 h 1507524"/>
                <a:gd name="connsiteX56" fmla="*/ 988540 w 1780458"/>
                <a:gd name="connsiteY56" fmla="*/ 1474573 h 1507524"/>
                <a:gd name="connsiteX57" fmla="*/ 963827 w 1780458"/>
                <a:gd name="connsiteY57" fmla="*/ 1466335 h 1507524"/>
                <a:gd name="connsiteX58" fmla="*/ 856735 w 1780458"/>
                <a:gd name="connsiteY58" fmla="*/ 1449859 h 1507524"/>
                <a:gd name="connsiteX59" fmla="*/ 823783 w 1780458"/>
                <a:gd name="connsiteY59" fmla="*/ 1441621 h 1507524"/>
                <a:gd name="connsiteX60" fmla="*/ 782594 w 1780458"/>
                <a:gd name="connsiteY60" fmla="*/ 1433383 h 1507524"/>
                <a:gd name="connsiteX61" fmla="*/ 724929 w 1780458"/>
                <a:gd name="connsiteY61" fmla="*/ 1425146 h 1507524"/>
                <a:gd name="connsiteX62" fmla="*/ 609600 w 1780458"/>
                <a:gd name="connsiteY62" fmla="*/ 1408670 h 1507524"/>
                <a:gd name="connsiteX63" fmla="*/ 584886 w 1780458"/>
                <a:gd name="connsiteY63" fmla="*/ 1400432 h 1507524"/>
                <a:gd name="connsiteX64" fmla="*/ 494270 w 1780458"/>
                <a:gd name="connsiteY64" fmla="*/ 1383956 h 1507524"/>
                <a:gd name="connsiteX65" fmla="*/ 469556 w 1780458"/>
                <a:gd name="connsiteY65" fmla="*/ 1375719 h 1507524"/>
                <a:gd name="connsiteX66" fmla="*/ 403654 w 1780458"/>
                <a:gd name="connsiteY66" fmla="*/ 1318054 h 1507524"/>
                <a:gd name="connsiteX67" fmla="*/ 378940 w 1780458"/>
                <a:gd name="connsiteY67" fmla="*/ 1301578 h 1507524"/>
                <a:gd name="connsiteX68" fmla="*/ 337751 w 1780458"/>
                <a:gd name="connsiteY68" fmla="*/ 1268627 h 1507524"/>
                <a:gd name="connsiteX69" fmla="*/ 321275 w 1780458"/>
                <a:gd name="connsiteY69" fmla="*/ 1243913 h 1507524"/>
                <a:gd name="connsiteX70" fmla="*/ 296562 w 1780458"/>
                <a:gd name="connsiteY70" fmla="*/ 1227437 h 1507524"/>
                <a:gd name="connsiteX71" fmla="*/ 238897 w 1780458"/>
                <a:gd name="connsiteY71" fmla="*/ 1153297 h 1507524"/>
                <a:gd name="connsiteX72" fmla="*/ 222421 w 1780458"/>
                <a:gd name="connsiteY72" fmla="*/ 1128583 h 1507524"/>
                <a:gd name="connsiteX73" fmla="*/ 197708 w 1780458"/>
                <a:gd name="connsiteY73" fmla="*/ 1103870 h 1507524"/>
                <a:gd name="connsiteX74" fmla="*/ 172994 w 1780458"/>
                <a:gd name="connsiteY74" fmla="*/ 1054443 h 1507524"/>
                <a:gd name="connsiteX75" fmla="*/ 148281 w 1780458"/>
                <a:gd name="connsiteY75" fmla="*/ 1005016 h 1507524"/>
                <a:gd name="connsiteX76" fmla="*/ 156519 w 1780458"/>
                <a:gd name="connsiteY76" fmla="*/ 757881 h 1507524"/>
                <a:gd name="connsiteX77" fmla="*/ 148281 w 1780458"/>
                <a:gd name="connsiteY77" fmla="*/ 642551 h 1507524"/>
                <a:gd name="connsiteX78" fmla="*/ 131805 w 1780458"/>
                <a:gd name="connsiteY78" fmla="*/ 593124 h 1507524"/>
                <a:gd name="connsiteX79" fmla="*/ 82378 w 1780458"/>
                <a:gd name="connsiteY79" fmla="*/ 510746 h 1507524"/>
                <a:gd name="connsiteX80" fmla="*/ 65902 w 1780458"/>
                <a:gd name="connsiteY80" fmla="*/ 486032 h 1507524"/>
                <a:gd name="connsiteX81" fmla="*/ 49427 w 1780458"/>
                <a:gd name="connsiteY81" fmla="*/ 461319 h 1507524"/>
                <a:gd name="connsiteX82" fmla="*/ 24713 w 1780458"/>
                <a:gd name="connsiteY82" fmla="*/ 428367 h 1507524"/>
                <a:gd name="connsiteX83" fmla="*/ 0 w 1780458"/>
                <a:gd name="connsiteY83" fmla="*/ 345989 h 1507524"/>
                <a:gd name="connsiteX84" fmla="*/ 8238 w 1780458"/>
                <a:gd name="connsiteY84" fmla="*/ 230659 h 1507524"/>
                <a:gd name="connsiteX85" fmla="*/ 16475 w 1780458"/>
                <a:gd name="connsiteY85" fmla="*/ 205946 h 1507524"/>
                <a:gd name="connsiteX86" fmla="*/ 57665 w 1780458"/>
                <a:gd name="connsiteY86" fmla="*/ 131805 h 150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780458" h="1507524">
                  <a:moveTo>
                    <a:pt x="57665" y="131805"/>
                  </a:moveTo>
                  <a:lnTo>
                    <a:pt x="57665" y="131805"/>
                  </a:lnTo>
                  <a:cubicBezTo>
                    <a:pt x="85124" y="159264"/>
                    <a:pt x="107732" y="192642"/>
                    <a:pt x="140043" y="214183"/>
                  </a:cubicBezTo>
                  <a:lnTo>
                    <a:pt x="189470" y="247135"/>
                  </a:lnTo>
                  <a:cubicBezTo>
                    <a:pt x="211760" y="261995"/>
                    <a:pt x="221008" y="269635"/>
                    <a:pt x="247135" y="280086"/>
                  </a:cubicBezTo>
                  <a:cubicBezTo>
                    <a:pt x="288942" y="296809"/>
                    <a:pt x="296385" y="296527"/>
                    <a:pt x="337751" y="304800"/>
                  </a:cubicBezTo>
                  <a:cubicBezTo>
                    <a:pt x="348735" y="302054"/>
                    <a:pt x="360576" y="301625"/>
                    <a:pt x="370702" y="296562"/>
                  </a:cubicBezTo>
                  <a:cubicBezTo>
                    <a:pt x="424551" y="269637"/>
                    <a:pt x="386681" y="280583"/>
                    <a:pt x="420129" y="247135"/>
                  </a:cubicBezTo>
                  <a:cubicBezTo>
                    <a:pt x="429838" y="237426"/>
                    <a:pt x="442097" y="230659"/>
                    <a:pt x="453081" y="222421"/>
                  </a:cubicBezTo>
                  <a:cubicBezTo>
                    <a:pt x="491895" y="164199"/>
                    <a:pt x="443198" y="236255"/>
                    <a:pt x="494270" y="164756"/>
                  </a:cubicBezTo>
                  <a:cubicBezTo>
                    <a:pt x="500025" y="156700"/>
                    <a:pt x="503745" y="147044"/>
                    <a:pt x="510746" y="140043"/>
                  </a:cubicBezTo>
                  <a:cubicBezTo>
                    <a:pt x="517747" y="133042"/>
                    <a:pt x="527221" y="129059"/>
                    <a:pt x="535459" y="123567"/>
                  </a:cubicBezTo>
                  <a:cubicBezTo>
                    <a:pt x="574288" y="65326"/>
                    <a:pt x="525559" y="137428"/>
                    <a:pt x="576648" y="65902"/>
                  </a:cubicBezTo>
                  <a:cubicBezTo>
                    <a:pt x="582403" y="57846"/>
                    <a:pt x="585673" y="47709"/>
                    <a:pt x="593124" y="41189"/>
                  </a:cubicBezTo>
                  <a:cubicBezTo>
                    <a:pt x="627990" y="10681"/>
                    <a:pt x="633319" y="11314"/>
                    <a:pt x="667265" y="0"/>
                  </a:cubicBezTo>
                  <a:cubicBezTo>
                    <a:pt x="744151" y="2746"/>
                    <a:pt x="821130" y="3583"/>
                    <a:pt x="897924" y="8237"/>
                  </a:cubicBezTo>
                  <a:cubicBezTo>
                    <a:pt x="911900" y="9084"/>
                    <a:pt x="925337" y="13970"/>
                    <a:pt x="939113" y="16475"/>
                  </a:cubicBezTo>
                  <a:cubicBezTo>
                    <a:pt x="955547" y="19463"/>
                    <a:pt x="972161" y="21437"/>
                    <a:pt x="988540" y="24713"/>
                  </a:cubicBezTo>
                  <a:cubicBezTo>
                    <a:pt x="999642" y="26933"/>
                    <a:pt x="1010440" y="30495"/>
                    <a:pt x="1021492" y="32951"/>
                  </a:cubicBezTo>
                  <a:cubicBezTo>
                    <a:pt x="1052672" y="39880"/>
                    <a:pt x="1098936" y="48387"/>
                    <a:pt x="1128583" y="49427"/>
                  </a:cubicBezTo>
                  <a:cubicBezTo>
                    <a:pt x="1263080" y="54146"/>
                    <a:pt x="1397686" y="54919"/>
                    <a:pt x="1532238" y="57665"/>
                  </a:cubicBezTo>
                  <a:cubicBezTo>
                    <a:pt x="1537730" y="65903"/>
                    <a:pt x="1544285" y="73523"/>
                    <a:pt x="1548713" y="82378"/>
                  </a:cubicBezTo>
                  <a:cubicBezTo>
                    <a:pt x="1562877" y="110706"/>
                    <a:pt x="1558659" y="131603"/>
                    <a:pt x="1548713" y="164756"/>
                  </a:cubicBezTo>
                  <a:cubicBezTo>
                    <a:pt x="1545868" y="174239"/>
                    <a:pt x="1537730" y="181232"/>
                    <a:pt x="1532238" y="189470"/>
                  </a:cubicBezTo>
                  <a:cubicBezTo>
                    <a:pt x="1547791" y="313906"/>
                    <a:pt x="1532879" y="201879"/>
                    <a:pt x="1548713" y="304800"/>
                  </a:cubicBezTo>
                  <a:cubicBezTo>
                    <a:pt x="1560935" y="384240"/>
                    <a:pt x="1549444" y="339946"/>
                    <a:pt x="1573427" y="411892"/>
                  </a:cubicBezTo>
                  <a:cubicBezTo>
                    <a:pt x="1576173" y="420130"/>
                    <a:pt x="1574440" y="431788"/>
                    <a:pt x="1581665" y="436605"/>
                  </a:cubicBezTo>
                  <a:lnTo>
                    <a:pt x="1606378" y="453081"/>
                  </a:lnTo>
                  <a:cubicBezTo>
                    <a:pt x="1613078" y="473181"/>
                    <a:pt x="1615123" y="486539"/>
                    <a:pt x="1631092" y="502508"/>
                  </a:cubicBezTo>
                  <a:cubicBezTo>
                    <a:pt x="1640998" y="512414"/>
                    <a:pt x="1677990" y="531153"/>
                    <a:pt x="1688756" y="535459"/>
                  </a:cubicBezTo>
                  <a:cubicBezTo>
                    <a:pt x="1704881" y="541909"/>
                    <a:pt x="1723733" y="542302"/>
                    <a:pt x="1738183" y="551935"/>
                  </a:cubicBezTo>
                  <a:lnTo>
                    <a:pt x="1762897" y="568410"/>
                  </a:lnTo>
                  <a:cubicBezTo>
                    <a:pt x="1779976" y="619645"/>
                    <a:pt x="1788020" y="619218"/>
                    <a:pt x="1771135" y="675502"/>
                  </a:cubicBezTo>
                  <a:cubicBezTo>
                    <a:pt x="1768290" y="684985"/>
                    <a:pt x="1761660" y="693215"/>
                    <a:pt x="1754659" y="700216"/>
                  </a:cubicBezTo>
                  <a:cubicBezTo>
                    <a:pt x="1747658" y="707217"/>
                    <a:pt x="1738184" y="711200"/>
                    <a:pt x="1729946" y="716692"/>
                  </a:cubicBezTo>
                  <a:cubicBezTo>
                    <a:pt x="1724454" y="724930"/>
                    <a:pt x="1721201" y="735220"/>
                    <a:pt x="1713470" y="741405"/>
                  </a:cubicBezTo>
                  <a:cubicBezTo>
                    <a:pt x="1706689" y="746830"/>
                    <a:pt x="1694896" y="743503"/>
                    <a:pt x="1688756" y="749643"/>
                  </a:cubicBezTo>
                  <a:cubicBezTo>
                    <a:pt x="1660431" y="777968"/>
                    <a:pt x="1657926" y="792707"/>
                    <a:pt x="1647567" y="823783"/>
                  </a:cubicBezTo>
                  <a:cubicBezTo>
                    <a:pt x="1650313" y="859480"/>
                    <a:pt x="1647121" y="896141"/>
                    <a:pt x="1655805" y="930875"/>
                  </a:cubicBezTo>
                  <a:cubicBezTo>
                    <a:pt x="1658631" y="942177"/>
                    <a:pt x="1673061" y="946639"/>
                    <a:pt x="1680519" y="955589"/>
                  </a:cubicBezTo>
                  <a:cubicBezTo>
                    <a:pt x="1686857" y="963195"/>
                    <a:pt x="1691502" y="972064"/>
                    <a:pt x="1696994" y="980302"/>
                  </a:cubicBezTo>
                  <a:cubicBezTo>
                    <a:pt x="1703467" y="1019139"/>
                    <a:pt x="1703639" y="1028273"/>
                    <a:pt x="1713470" y="1062681"/>
                  </a:cubicBezTo>
                  <a:cubicBezTo>
                    <a:pt x="1715856" y="1071030"/>
                    <a:pt x="1717825" y="1079627"/>
                    <a:pt x="1721708" y="1087394"/>
                  </a:cubicBezTo>
                  <a:cubicBezTo>
                    <a:pt x="1753646" y="1151271"/>
                    <a:pt x="1725715" y="1074705"/>
                    <a:pt x="1746421" y="1136821"/>
                  </a:cubicBezTo>
                  <a:cubicBezTo>
                    <a:pt x="1743675" y="1161535"/>
                    <a:pt x="1744214" y="1186839"/>
                    <a:pt x="1738183" y="1210962"/>
                  </a:cubicBezTo>
                  <a:cubicBezTo>
                    <a:pt x="1731824" y="1236398"/>
                    <a:pt x="1714337" y="1237698"/>
                    <a:pt x="1696994" y="1252151"/>
                  </a:cubicBezTo>
                  <a:cubicBezTo>
                    <a:pt x="1633573" y="1305003"/>
                    <a:pt x="1708921" y="1252440"/>
                    <a:pt x="1647567" y="1293340"/>
                  </a:cubicBezTo>
                  <a:cubicBezTo>
                    <a:pt x="1600357" y="1364160"/>
                    <a:pt x="1663217" y="1280822"/>
                    <a:pt x="1606378" y="1326292"/>
                  </a:cubicBezTo>
                  <a:cubicBezTo>
                    <a:pt x="1598647" y="1332477"/>
                    <a:pt x="1597353" y="1344486"/>
                    <a:pt x="1589902" y="1351005"/>
                  </a:cubicBezTo>
                  <a:cubicBezTo>
                    <a:pt x="1575000" y="1364044"/>
                    <a:pt x="1540475" y="1383956"/>
                    <a:pt x="1540475" y="1383956"/>
                  </a:cubicBezTo>
                  <a:cubicBezTo>
                    <a:pt x="1510272" y="1429264"/>
                    <a:pt x="1540474" y="1390822"/>
                    <a:pt x="1499286" y="1425146"/>
                  </a:cubicBezTo>
                  <a:cubicBezTo>
                    <a:pt x="1458148" y="1459427"/>
                    <a:pt x="1493291" y="1443620"/>
                    <a:pt x="1449859" y="1458097"/>
                  </a:cubicBezTo>
                  <a:cubicBezTo>
                    <a:pt x="1433383" y="1469081"/>
                    <a:pt x="1419217" y="1484786"/>
                    <a:pt x="1400432" y="1491048"/>
                  </a:cubicBezTo>
                  <a:lnTo>
                    <a:pt x="1351005" y="1507524"/>
                  </a:lnTo>
                  <a:cubicBezTo>
                    <a:pt x="1282356" y="1504778"/>
                    <a:pt x="1213610" y="1503856"/>
                    <a:pt x="1145059" y="1499286"/>
                  </a:cubicBezTo>
                  <a:cubicBezTo>
                    <a:pt x="1131088" y="1498355"/>
                    <a:pt x="1117646" y="1493553"/>
                    <a:pt x="1103870" y="1491048"/>
                  </a:cubicBezTo>
                  <a:cubicBezTo>
                    <a:pt x="1051604" y="1481545"/>
                    <a:pt x="1045835" y="1481734"/>
                    <a:pt x="988540" y="1474573"/>
                  </a:cubicBezTo>
                  <a:cubicBezTo>
                    <a:pt x="980302" y="1471827"/>
                    <a:pt x="972304" y="1468219"/>
                    <a:pt x="963827" y="1466335"/>
                  </a:cubicBezTo>
                  <a:cubicBezTo>
                    <a:pt x="927997" y="1458373"/>
                    <a:pt x="892865" y="1456428"/>
                    <a:pt x="856735" y="1449859"/>
                  </a:cubicBezTo>
                  <a:cubicBezTo>
                    <a:pt x="845596" y="1447834"/>
                    <a:pt x="834835" y="1444077"/>
                    <a:pt x="823783" y="1441621"/>
                  </a:cubicBezTo>
                  <a:cubicBezTo>
                    <a:pt x="810115" y="1438584"/>
                    <a:pt x="796405" y="1435685"/>
                    <a:pt x="782594" y="1433383"/>
                  </a:cubicBezTo>
                  <a:cubicBezTo>
                    <a:pt x="763441" y="1430191"/>
                    <a:pt x="744120" y="1428098"/>
                    <a:pt x="724929" y="1425146"/>
                  </a:cubicBezTo>
                  <a:cubicBezTo>
                    <a:pt x="621956" y="1409305"/>
                    <a:pt x="734103" y="1424233"/>
                    <a:pt x="609600" y="1408670"/>
                  </a:cubicBezTo>
                  <a:cubicBezTo>
                    <a:pt x="601362" y="1405924"/>
                    <a:pt x="593310" y="1402538"/>
                    <a:pt x="584886" y="1400432"/>
                  </a:cubicBezTo>
                  <a:cubicBezTo>
                    <a:pt x="524944" y="1385446"/>
                    <a:pt x="560340" y="1398638"/>
                    <a:pt x="494270" y="1383956"/>
                  </a:cubicBezTo>
                  <a:cubicBezTo>
                    <a:pt x="485793" y="1382072"/>
                    <a:pt x="477794" y="1378465"/>
                    <a:pt x="469556" y="1375719"/>
                  </a:cubicBezTo>
                  <a:cubicBezTo>
                    <a:pt x="442098" y="1334529"/>
                    <a:pt x="461319" y="1356497"/>
                    <a:pt x="403654" y="1318054"/>
                  </a:cubicBezTo>
                  <a:lnTo>
                    <a:pt x="378940" y="1301578"/>
                  </a:lnTo>
                  <a:cubicBezTo>
                    <a:pt x="331726" y="1230755"/>
                    <a:pt x="394594" y="1314101"/>
                    <a:pt x="337751" y="1268627"/>
                  </a:cubicBezTo>
                  <a:cubicBezTo>
                    <a:pt x="330020" y="1262442"/>
                    <a:pt x="328276" y="1250914"/>
                    <a:pt x="321275" y="1243913"/>
                  </a:cubicBezTo>
                  <a:cubicBezTo>
                    <a:pt x="314274" y="1236912"/>
                    <a:pt x="304800" y="1232929"/>
                    <a:pt x="296562" y="1227437"/>
                  </a:cubicBezTo>
                  <a:cubicBezTo>
                    <a:pt x="213282" y="1102515"/>
                    <a:pt x="303422" y="1230726"/>
                    <a:pt x="238897" y="1153297"/>
                  </a:cubicBezTo>
                  <a:cubicBezTo>
                    <a:pt x="232559" y="1145691"/>
                    <a:pt x="228759" y="1136189"/>
                    <a:pt x="222421" y="1128583"/>
                  </a:cubicBezTo>
                  <a:cubicBezTo>
                    <a:pt x="214963" y="1119633"/>
                    <a:pt x="205166" y="1112820"/>
                    <a:pt x="197708" y="1103870"/>
                  </a:cubicBezTo>
                  <a:cubicBezTo>
                    <a:pt x="168199" y="1068459"/>
                    <a:pt x="191569" y="1091594"/>
                    <a:pt x="172994" y="1054443"/>
                  </a:cubicBezTo>
                  <a:cubicBezTo>
                    <a:pt x="141056" y="990566"/>
                    <a:pt x="168987" y="1067132"/>
                    <a:pt x="148281" y="1005016"/>
                  </a:cubicBezTo>
                  <a:cubicBezTo>
                    <a:pt x="151027" y="922638"/>
                    <a:pt x="156519" y="840305"/>
                    <a:pt x="156519" y="757881"/>
                  </a:cubicBezTo>
                  <a:cubicBezTo>
                    <a:pt x="156519" y="719340"/>
                    <a:pt x="153998" y="680666"/>
                    <a:pt x="148281" y="642551"/>
                  </a:cubicBezTo>
                  <a:cubicBezTo>
                    <a:pt x="145705" y="625376"/>
                    <a:pt x="139572" y="608657"/>
                    <a:pt x="131805" y="593124"/>
                  </a:cubicBezTo>
                  <a:cubicBezTo>
                    <a:pt x="106474" y="542463"/>
                    <a:pt x="122140" y="570390"/>
                    <a:pt x="82378" y="510746"/>
                  </a:cubicBezTo>
                  <a:lnTo>
                    <a:pt x="65902" y="486032"/>
                  </a:lnTo>
                  <a:cubicBezTo>
                    <a:pt x="60410" y="477794"/>
                    <a:pt x="55367" y="469239"/>
                    <a:pt x="49427" y="461319"/>
                  </a:cubicBezTo>
                  <a:lnTo>
                    <a:pt x="24713" y="428367"/>
                  </a:lnTo>
                  <a:cubicBezTo>
                    <a:pt x="4658" y="368199"/>
                    <a:pt x="12450" y="395788"/>
                    <a:pt x="0" y="345989"/>
                  </a:cubicBezTo>
                  <a:cubicBezTo>
                    <a:pt x="2746" y="307546"/>
                    <a:pt x="3735" y="268936"/>
                    <a:pt x="8238" y="230659"/>
                  </a:cubicBezTo>
                  <a:cubicBezTo>
                    <a:pt x="9253" y="222035"/>
                    <a:pt x="12258" y="213536"/>
                    <a:pt x="16475" y="205946"/>
                  </a:cubicBezTo>
                  <a:lnTo>
                    <a:pt x="57665" y="13180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4833845" y="435644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736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Definitely,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so,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57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10" name="Group 9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Freeform 11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6"/>
          <p:cNvSpPr/>
          <p:nvPr/>
        </p:nvSpPr>
        <p:spPr>
          <a:xfrm>
            <a:off x="4110681" y="4357816"/>
            <a:ext cx="1706328" cy="1326292"/>
          </a:xfrm>
          <a:custGeom>
            <a:avLst/>
            <a:gdLst>
              <a:gd name="connsiteX0" fmla="*/ 205946 w 1706328"/>
              <a:gd name="connsiteY0" fmla="*/ 650789 h 1326292"/>
              <a:gd name="connsiteX1" fmla="*/ 205946 w 1706328"/>
              <a:gd name="connsiteY1" fmla="*/ 650789 h 1326292"/>
              <a:gd name="connsiteX2" fmla="*/ 280087 w 1706328"/>
              <a:gd name="connsiteY2" fmla="*/ 626076 h 1326292"/>
              <a:gd name="connsiteX3" fmla="*/ 420130 w 1706328"/>
              <a:gd name="connsiteY3" fmla="*/ 642552 h 1326292"/>
              <a:gd name="connsiteX4" fmla="*/ 576649 w 1706328"/>
              <a:gd name="connsiteY4" fmla="*/ 617838 h 1326292"/>
              <a:gd name="connsiteX5" fmla="*/ 601362 w 1706328"/>
              <a:gd name="connsiteY5" fmla="*/ 609600 h 1326292"/>
              <a:gd name="connsiteX6" fmla="*/ 650789 w 1706328"/>
              <a:gd name="connsiteY6" fmla="*/ 576649 h 1326292"/>
              <a:gd name="connsiteX7" fmla="*/ 733168 w 1706328"/>
              <a:gd name="connsiteY7" fmla="*/ 560173 h 1326292"/>
              <a:gd name="connsiteX8" fmla="*/ 766119 w 1706328"/>
              <a:gd name="connsiteY8" fmla="*/ 551935 h 1326292"/>
              <a:gd name="connsiteX9" fmla="*/ 815546 w 1706328"/>
              <a:gd name="connsiteY9" fmla="*/ 543698 h 1326292"/>
              <a:gd name="connsiteX10" fmla="*/ 864973 w 1706328"/>
              <a:gd name="connsiteY10" fmla="*/ 527222 h 1326292"/>
              <a:gd name="connsiteX11" fmla="*/ 889687 w 1706328"/>
              <a:gd name="connsiteY11" fmla="*/ 518984 h 1326292"/>
              <a:gd name="connsiteX12" fmla="*/ 914400 w 1706328"/>
              <a:gd name="connsiteY12" fmla="*/ 502508 h 1326292"/>
              <a:gd name="connsiteX13" fmla="*/ 939114 w 1706328"/>
              <a:gd name="connsiteY13" fmla="*/ 494270 h 1326292"/>
              <a:gd name="connsiteX14" fmla="*/ 996778 w 1706328"/>
              <a:gd name="connsiteY14" fmla="*/ 461319 h 1326292"/>
              <a:gd name="connsiteX15" fmla="*/ 1046205 w 1706328"/>
              <a:gd name="connsiteY15" fmla="*/ 420130 h 1326292"/>
              <a:gd name="connsiteX16" fmla="*/ 1095633 w 1706328"/>
              <a:gd name="connsiteY16" fmla="*/ 378941 h 1326292"/>
              <a:gd name="connsiteX17" fmla="*/ 1120346 w 1706328"/>
              <a:gd name="connsiteY17" fmla="*/ 329514 h 1326292"/>
              <a:gd name="connsiteX18" fmla="*/ 1136822 w 1706328"/>
              <a:gd name="connsiteY18" fmla="*/ 304800 h 1326292"/>
              <a:gd name="connsiteX19" fmla="*/ 1153297 w 1706328"/>
              <a:gd name="connsiteY19" fmla="*/ 255373 h 1326292"/>
              <a:gd name="connsiteX20" fmla="*/ 1161535 w 1706328"/>
              <a:gd name="connsiteY20" fmla="*/ 230660 h 1326292"/>
              <a:gd name="connsiteX21" fmla="*/ 1178011 w 1706328"/>
              <a:gd name="connsiteY21" fmla="*/ 205946 h 1326292"/>
              <a:gd name="connsiteX22" fmla="*/ 1227438 w 1706328"/>
              <a:gd name="connsiteY22" fmla="*/ 107092 h 1326292"/>
              <a:gd name="connsiteX23" fmla="*/ 1243914 w 1706328"/>
              <a:gd name="connsiteY23" fmla="*/ 82379 h 1326292"/>
              <a:gd name="connsiteX24" fmla="*/ 1318054 w 1706328"/>
              <a:gd name="connsiteY24" fmla="*/ 16476 h 1326292"/>
              <a:gd name="connsiteX25" fmla="*/ 1367481 w 1706328"/>
              <a:gd name="connsiteY25" fmla="*/ 0 h 1326292"/>
              <a:gd name="connsiteX26" fmla="*/ 1433384 w 1706328"/>
              <a:gd name="connsiteY26" fmla="*/ 24714 h 1326292"/>
              <a:gd name="connsiteX27" fmla="*/ 1449860 w 1706328"/>
              <a:gd name="connsiteY27" fmla="*/ 49427 h 1326292"/>
              <a:gd name="connsiteX28" fmla="*/ 1458097 w 1706328"/>
              <a:gd name="connsiteY28" fmla="*/ 304800 h 1326292"/>
              <a:gd name="connsiteX29" fmla="*/ 1482811 w 1706328"/>
              <a:gd name="connsiteY29" fmla="*/ 370703 h 1326292"/>
              <a:gd name="connsiteX30" fmla="*/ 1532238 w 1706328"/>
              <a:gd name="connsiteY30" fmla="*/ 387179 h 1326292"/>
              <a:gd name="connsiteX31" fmla="*/ 1606378 w 1706328"/>
              <a:gd name="connsiteY31" fmla="*/ 420130 h 1326292"/>
              <a:gd name="connsiteX32" fmla="*/ 1655805 w 1706328"/>
              <a:gd name="connsiteY32" fmla="*/ 436606 h 1326292"/>
              <a:gd name="connsiteX33" fmla="*/ 1680519 w 1706328"/>
              <a:gd name="connsiteY33" fmla="*/ 444843 h 1326292"/>
              <a:gd name="connsiteX34" fmla="*/ 1705233 w 1706328"/>
              <a:gd name="connsiteY34" fmla="*/ 469557 h 1326292"/>
              <a:gd name="connsiteX35" fmla="*/ 1696995 w 1706328"/>
              <a:gd name="connsiteY35" fmla="*/ 527222 h 1326292"/>
              <a:gd name="connsiteX36" fmla="*/ 1664043 w 1706328"/>
              <a:gd name="connsiteY36" fmla="*/ 584887 h 1326292"/>
              <a:gd name="connsiteX37" fmla="*/ 1647568 w 1706328"/>
              <a:gd name="connsiteY37" fmla="*/ 642552 h 1326292"/>
              <a:gd name="connsiteX38" fmla="*/ 1631092 w 1706328"/>
              <a:gd name="connsiteY38" fmla="*/ 700216 h 1326292"/>
              <a:gd name="connsiteX39" fmla="*/ 1622854 w 1706328"/>
              <a:gd name="connsiteY39" fmla="*/ 749643 h 1326292"/>
              <a:gd name="connsiteX40" fmla="*/ 1614616 w 1706328"/>
              <a:gd name="connsiteY40" fmla="*/ 823784 h 1326292"/>
              <a:gd name="connsiteX41" fmla="*/ 1606378 w 1706328"/>
              <a:gd name="connsiteY41" fmla="*/ 856735 h 1326292"/>
              <a:gd name="connsiteX42" fmla="*/ 1589903 w 1706328"/>
              <a:gd name="connsiteY42" fmla="*/ 906162 h 1326292"/>
              <a:gd name="connsiteX43" fmla="*/ 1614616 w 1706328"/>
              <a:gd name="connsiteY43" fmla="*/ 922638 h 1326292"/>
              <a:gd name="connsiteX44" fmla="*/ 1639330 w 1706328"/>
              <a:gd name="connsiteY44" fmla="*/ 930876 h 1326292"/>
              <a:gd name="connsiteX45" fmla="*/ 1655805 w 1706328"/>
              <a:gd name="connsiteY45" fmla="*/ 955589 h 1326292"/>
              <a:gd name="connsiteX46" fmla="*/ 1655805 w 1706328"/>
              <a:gd name="connsiteY46" fmla="*/ 1095633 h 1326292"/>
              <a:gd name="connsiteX47" fmla="*/ 1647568 w 1706328"/>
              <a:gd name="connsiteY47" fmla="*/ 1120346 h 1326292"/>
              <a:gd name="connsiteX48" fmla="*/ 1631092 w 1706328"/>
              <a:gd name="connsiteY48" fmla="*/ 1145060 h 1326292"/>
              <a:gd name="connsiteX49" fmla="*/ 1532238 w 1706328"/>
              <a:gd name="connsiteY49" fmla="*/ 1227438 h 1326292"/>
              <a:gd name="connsiteX50" fmla="*/ 1507524 w 1706328"/>
              <a:gd name="connsiteY50" fmla="*/ 1235676 h 1326292"/>
              <a:gd name="connsiteX51" fmla="*/ 1433384 w 1706328"/>
              <a:gd name="connsiteY51" fmla="*/ 1268627 h 1326292"/>
              <a:gd name="connsiteX52" fmla="*/ 1408670 w 1706328"/>
              <a:gd name="connsiteY52" fmla="*/ 1276865 h 1326292"/>
              <a:gd name="connsiteX53" fmla="*/ 1383957 w 1706328"/>
              <a:gd name="connsiteY53" fmla="*/ 1285103 h 1326292"/>
              <a:gd name="connsiteX54" fmla="*/ 1276865 w 1706328"/>
              <a:gd name="connsiteY54" fmla="*/ 1301579 h 1326292"/>
              <a:gd name="connsiteX55" fmla="*/ 1227438 w 1706328"/>
              <a:gd name="connsiteY55" fmla="*/ 1309816 h 1326292"/>
              <a:gd name="connsiteX56" fmla="*/ 1128584 w 1706328"/>
              <a:gd name="connsiteY56" fmla="*/ 1318054 h 1326292"/>
              <a:gd name="connsiteX57" fmla="*/ 1046205 w 1706328"/>
              <a:gd name="connsiteY57" fmla="*/ 1326292 h 1326292"/>
              <a:gd name="connsiteX58" fmla="*/ 634314 w 1706328"/>
              <a:gd name="connsiteY58" fmla="*/ 1318054 h 1326292"/>
              <a:gd name="connsiteX59" fmla="*/ 518984 w 1706328"/>
              <a:gd name="connsiteY59" fmla="*/ 1301579 h 1326292"/>
              <a:gd name="connsiteX60" fmla="*/ 461319 w 1706328"/>
              <a:gd name="connsiteY60" fmla="*/ 1293341 h 1326292"/>
              <a:gd name="connsiteX61" fmla="*/ 436605 w 1706328"/>
              <a:gd name="connsiteY61" fmla="*/ 1285103 h 1326292"/>
              <a:gd name="connsiteX62" fmla="*/ 387178 w 1706328"/>
              <a:gd name="connsiteY62" fmla="*/ 1252152 h 1326292"/>
              <a:gd name="connsiteX63" fmla="*/ 337751 w 1706328"/>
              <a:gd name="connsiteY63" fmla="*/ 1235676 h 1326292"/>
              <a:gd name="connsiteX64" fmla="*/ 288324 w 1706328"/>
              <a:gd name="connsiteY64" fmla="*/ 1202725 h 1326292"/>
              <a:gd name="connsiteX65" fmla="*/ 247135 w 1706328"/>
              <a:gd name="connsiteY65" fmla="*/ 1169773 h 1326292"/>
              <a:gd name="connsiteX66" fmla="*/ 230660 w 1706328"/>
              <a:gd name="connsiteY66" fmla="*/ 1145060 h 1326292"/>
              <a:gd name="connsiteX67" fmla="*/ 172995 w 1706328"/>
              <a:gd name="connsiteY67" fmla="*/ 1103870 h 1326292"/>
              <a:gd name="connsiteX68" fmla="*/ 148281 w 1706328"/>
              <a:gd name="connsiteY68" fmla="*/ 1062681 h 1326292"/>
              <a:gd name="connsiteX69" fmla="*/ 123568 w 1706328"/>
              <a:gd name="connsiteY69" fmla="*/ 1046206 h 1326292"/>
              <a:gd name="connsiteX70" fmla="*/ 74141 w 1706328"/>
              <a:gd name="connsiteY70" fmla="*/ 988541 h 1326292"/>
              <a:gd name="connsiteX71" fmla="*/ 16476 w 1706328"/>
              <a:gd name="connsiteY71" fmla="*/ 914400 h 1326292"/>
              <a:gd name="connsiteX72" fmla="*/ 0 w 1706328"/>
              <a:gd name="connsiteY72" fmla="*/ 864973 h 1326292"/>
              <a:gd name="connsiteX73" fmla="*/ 8238 w 1706328"/>
              <a:gd name="connsiteY73" fmla="*/ 799070 h 1326292"/>
              <a:gd name="connsiteX74" fmla="*/ 24714 w 1706328"/>
              <a:gd name="connsiteY74" fmla="*/ 774357 h 1326292"/>
              <a:gd name="connsiteX75" fmla="*/ 74141 w 1706328"/>
              <a:gd name="connsiteY75" fmla="*/ 733168 h 1326292"/>
              <a:gd name="connsiteX76" fmla="*/ 98854 w 1706328"/>
              <a:gd name="connsiteY76" fmla="*/ 724930 h 1326292"/>
              <a:gd name="connsiteX77" fmla="*/ 172995 w 1706328"/>
              <a:gd name="connsiteY77" fmla="*/ 683741 h 1326292"/>
              <a:gd name="connsiteX78" fmla="*/ 197708 w 1706328"/>
              <a:gd name="connsiteY78" fmla="*/ 667265 h 1326292"/>
              <a:gd name="connsiteX79" fmla="*/ 205946 w 1706328"/>
              <a:gd name="connsiteY79" fmla="*/ 650789 h 132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706328" h="1326292">
                <a:moveTo>
                  <a:pt x="205946" y="650789"/>
                </a:moveTo>
                <a:lnTo>
                  <a:pt x="205946" y="650789"/>
                </a:lnTo>
                <a:cubicBezTo>
                  <a:pt x="230660" y="642551"/>
                  <a:pt x="254135" y="628333"/>
                  <a:pt x="280087" y="626076"/>
                </a:cubicBezTo>
                <a:cubicBezTo>
                  <a:pt x="357352" y="619358"/>
                  <a:pt x="369380" y="625635"/>
                  <a:pt x="420130" y="642552"/>
                </a:cubicBezTo>
                <a:cubicBezTo>
                  <a:pt x="544536" y="632982"/>
                  <a:pt x="493257" y="645636"/>
                  <a:pt x="576649" y="617838"/>
                </a:cubicBezTo>
                <a:cubicBezTo>
                  <a:pt x="584887" y="615092"/>
                  <a:pt x="594137" y="614417"/>
                  <a:pt x="601362" y="609600"/>
                </a:cubicBezTo>
                <a:cubicBezTo>
                  <a:pt x="617838" y="598616"/>
                  <a:pt x="631579" y="581452"/>
                  <a:pt x="650789" y="576649"/>
                </a:cubicBezTo>
                <a:cubicBezTo>
                  <a:pt x="727332" y="557513"/>
                  <a:pt x="632171" y="580373"/>
                  <a:pt x="733168" y="560173"/>
                </a:cubicBezTo>
                <a:cubicBezTo>
                  <a:pt x="744270" y="557953"/>
                  <a:pt x="755017" y="554155"/>
                  <a:pt x="766119" y="551935"/>
                </a:cubicBezTo>
                <a:cubicBezTo>
                  <a:pt x="782498" y="548659"/>
                  <a:pt x="799070" y="546444"/>
                  <a:pt x="815546" y="543698"/>
                </a:cubicBezTo>
                <a:lnTo>
                  <a:pt x="864973" y="527222"/>
                </a:lnTo>
                <a:lnTo>
                  <a:pt x="889687" y="518984"/>
                </a:lnTo>
                <a:cubicBezTo>
                  <a:pt x="897925" y="513492"/>
                  <a:pt x="905545" y="506936"/>
                  <a:pt x="914400" y="502508"/>
                </a:cubicBezTo>
                <a:cubicBezTo>
                  <a:pt x="922167" y="498625"/>
                  <a:pt x="931889" y="499087"/>
                  <a:pt x="939114" y="494270"/>
                </a:cubicBezTo>
                <a:cubicBezTo>
                  <a:pt x="998009" y="455007"/>
                  <a:pt x="927086" y="478743"/>
                  <a:pt x="996778" y="461319"/>
                </a:cubicBezTo>
                <a:cubicBezTo>
                  <a:pt x="1068990" y="389109"/>
                  <a:pt x="977383" y="477483"/>
                  <a:pt x="1046205" y="420130"/>
                </a:cubicBezTo>
                <a:cubicBezTo>
                  <a:pt x="1109621" y="367283"/>
                  <a:pt x="1034285" y="419837"/>
                  <a:pt x="1095633" y="378941"/>
                </a:cubicBezTo>
                <a:cubicBezTo>
                  <a:pt x="1142855" y="308104"/>
                  <a:pt x="1086235" y="397735"/>
                  <a:pt x="1120346" y="329514"/>
                </a:cubicBezTo>
                <a:cubicBezTo>
                  <a:pt x="1124774" y="320658"/>
                  <a:pt x="1132801" y="313848"/>
                  <a:pt x="1136822" y="304800"/>
                </a:cubicBezTo>
                <a:cubicBezTo>
                  <a:pt x="1143875" y="288930"/>
                  <a:pt x="1147805" y="271849"/>
                  <a:pt x="1153297" y="255373"/>
                </a:cubicBezTo>
                <a:cubicBezTo>
                  <a:pt x="1156043" y="247135"/>
                  <a:pt x="1156718" y="237885"/>
                  <a:pt x="1161535" y="230660"/>
                </a:cubicBezTo>
                <a:cubicBezTo>
                  <a:pt x="1167027" y="222422"/>
                  <a:pt x="1173990" y="214993"/>
                  <a:pt x="1178011" y="205946"/>
                </a:cubicBezTo>
                <a:cubicBezTo>
                  <a:pt x="1223485" y="103631"/>
                  <a:pt x="1158930" y="209853"/>
                  <a:pt x="1227438" y="107092"/>
                </a:cubicBezTo>
                <a:cubicBezTo>
                  <a:pt x="1232930" y="98854"/>
                  <a:pt x="1236913" y="89380"/>
                  <a:pt x="1243914" y="82379"/>
                </a:cubicBezTo>
                <a:cubicBezTo>
                  <a:pt x="1258824" y="67469"/>
                  <a:pt x="1291596" y="28236"/>
                  <a:pt x="1318054" y="16476"/>
                </a:cubicBezTo>
                <a:cubicBezTo>
                  <a:pt x="1333924" y="9422"/>
                  <a:pt x="1367481" y="0"/>
                  <a:pt x="1367481" y="0"/>
                </a:cubicBezTo>
                <a:cubicBezTo>
                  <a:pt x="1396952" y="5894"/>
                  <a:pt x="1412171" y="3502"/>
                  <a:pt x="1433384" y="24714"/>
                </a:cubicBezTo>
                <a:cubicBezTo>
                  <a:pt x="1440385" y="31715"/>
                  <a:pt x="1444368" y="41189"/>
                  <a:pt x="1449860" y="49427"/>
                </a:cubicBezTo>
                <a:cubicBezTo>
                  <a:pt x="1452606" y="134551"/>
                  <a:pt x="1453238" y="219770"/>
                  <a:pt x="1458097" y="304800"/>
                </a:cubicBezTo>
                <a:cubicBezTo>
                  <a:pt x="1458791" y="316952"/>
                  <a:pt x="1472684" y="363108"/>
                  <a:pt x="1482811" y="370703"/>
                </a:cubicBezTo>
                <a:cubicBezTo>
                  <a:pt x="1496705" y="381123"/>
                  <a:pt x="1517788" y="377546"/>
                  <a:pt x="1532238" y="387179"/>
                </a:cubicBezTo>
                <a:cubicBezTo>
                  <a:pt x="1571401" y="413287"/>
                  <a:pt x="1547559" y="400523"/>
                  <a:pt x="1606378" y="420130"/>
                </a:cubicBezTo>
                <a:lnTo>
                  <a:pt x="1655805" y="436606"/>
                </a:lnTo>
                <a:lnTo>
                  <a:pt x="1680519" y="444843"/>
                </a:lnTo>
                <a:cubicBezTo>
                  <a:pt x="1688757" y="453081"/>
                  <a:pt x="1702948" y="458133"/>
                  <a:pt x="1705233" y="469557"/>
                </a:cubicBezTo>
                <a:cubicBezTo>
                  <a:pt x="1709041" y="488597"/>
                  <a:pt x="1702104" y="508489"/>
                  <a:pt x="1696995" y="527222"/>
                </a:cubicBezTo>
                <a:cubicBezTo>
                  <a:pt x="1692171" y="544908"/>
                  <a:pt x="1674366" y="569402"/>
                  <a:pt x="1664043" y="584887"/>
                </a:cubicBezTo>
                <a:cubicBezTo>
                  <a:pt x="1638290" y="687896"/>
                  <a:pt x="1671203" y="559825"/>
                  <a:pt x="1647568" y="642552"/>
                </a:cubicBezTo>
                <a:cubicBezTo>
                  <a:pt x="1626891" y="714924"/>
                  <a:pt x="1650835" y="640989"/>
                  <a:pt x="1631092" y="700216"/>
                </a:cubicBezTo>
                <a:cubicBezTo>
                  <a:pt x="1628346" y="716692"/>
                  <a:pt x="1625062" y="733087"/>
                  <a:pt x="1622854" y="749643"/>
                </a:cubicBezTo>
                <a:cubicBezTo>
                  <a:pt x="1619568" y="774291"/>
                  <a:pt x="1618397" y="799207"/>
                  <a:pt x="1614616" y="823784"/>
                </a:cubicBezTo>
                <a:cubicBezTo>
                  <a:pt x="1612894" y="834974"/>
                  <a:pt x="1609631" y="845891"/>
                  <a:pt x="1606378" y="856735"/>
                </a:cubicBezTo>
                <a:cubicBezTo>
                  <a:pt x="1601388" y="873369"/>
                  <a:pt x="1589903" y="906162"/>
                  <a:pt x="1589903" y="906162"/>
                </a:cubicBezTo>
                <a:cubicBezTo>
                  <a:pt x="1598141" y="911654"/>
                  <a:pt x="1605761" y="918210"/>
                  <a:pt x="1614616" y="922638"/>
                </a:cubicBezTo>
                <a:cubicBezTo>
                  <a:pt x="1622383" y="926521"/>
                  <a:pt x="1632549" y="925451"/>
                  <a:pt x="1639330" y="930876"/>
                </a:cubicBezTo>
                <a:cubicBezTo>
                  <a:pt x="1647061" y="937061"/>
                  <a:pt x="1650313" y="947351"/>
                  <a:pt x="1655805" y="955589"/>
                </a:cubicBezTo>
                <a:cubicBezTo>
                  <a:pt x="1671527" y="1018476"/>
                  <a:pt x="1668705" y="992428"/>
                  <a:pt x="1655805" y="1095633"/>
                </a:cubicBezTo>
                <a:cubicBezTo>
                  <a:pt x="1654728" y="1104249"/>
                  <a:pt x="1651451" y="1112579"/>
                  <a:pt x="1647568" y="1120346"/>
                </a:cubicBezTo>
                <a:cubicBezTo>
                  <a:pt x="1643140" y="1129202"/>
                  <a:pt x="1637670" y="1137660"/>
                  <a:pt x="1631092" y="1145060"/>
                </a:cubicBezTo>
                <a:cubicBezTo>
                  <a:pt x="1611772" y="1166795"/>
                  <a:pt x="1563567" y="1216995"/>
                  <a:pt x="1532238" y="1227438"/>
                </a:cubicBezTo>
                <a:lnTo>
                  <a:pt x="1507524" y="1235676"/>
                </a:lnTo>
                <a:cubicBezTo>
                  <a:pt x="1468361" y="1261786"/>
                  <a:pt x="1492204" y="1249021"/>
                  <a:pt x="1433384" y="1268627"/>
                </a:cubicBezTo>
                <a:lnTo>
                  <a:pt x="1408670" y="1276865"/>
                </a:lnTo>
                <a:cubicBezTo>
                  <a:pt x="1400432" y="1279611"/>
                  <a:pt x="1392472" y="1283400"/>
                  <a:pt x="1383957" y="1285103"/>
                </a:cubicBezTo>
                <a:cubicBezTo>
                  <a:pt x="1305298" y="1300835"/>
                  <a:pt x="1381582" y="1286620"/>
                  <a:pt x="1276865" y="1301579"/>
                </a:cubicBezTo>
                <a:cubicBezTo>
                  <a:pt x="1260330" y="1303941"/>
                  <a:pt x="1244039" y="1307972"/>
                  <a:pt x="1227438" y="1309816"/>
                </a:cubicBezTo>
                <a:cubicBezTo>
                  <a:pt x="1194575" y="1313467"/>
                  <a:pt x="1161514" y="1315060"/>
                  <a:pt x="1128584" y="1318054"/>
                </a:cubicBezTo>
                <a:lnTo>
                  <a:pt x="1046205" y="1326292"/>
                </a:lnTo>
                <a:lnTo>
                  <a:pt x="634314" y="1318054"/>
                </a:lnTo>
                <a:cubicBezTo>
                  <a:pt x="568244" y="1315814"/>
                  <a:pt x="572176" y="1310444"/>
                  <a:pt x="518984" y="1301579"/>
                </a:cubicBezTo>
                <a:cubicBezTo>
                  <a:pt x="499831" y="1298387"/>
                  <a:pt x="480541" y="1296087"/>
                  <a:pt x="461319" y="1293341"/>
                </a:cubicBezTo>
                <a:cubicBezTo>
                  <a:pt x="453081" y="1290595"/>
                  <a:pt x="444196" y="1289320"/>
                  <a:pt x="436605" y="1285103"/>
                </a:cubicBezTo>
                <a:cubicBezTo>
                  <a:pt x="419296" y="1275487"/>
                  <a:pt x="405963" y="1258414"/>
                  <a:pt x="387178" y="1252152"/>
                </a:cubicBezTo>
                <a:lnTo>
                  <a:pt x="337751" y="1235676"/>
                </a:lnTo>
                <a:cubicBezTo>
                  <a:pt x="321275" y="1224692"/>
                  <a:pt x="299307" y="1219201"/>
                  <a:pt x="288324" y="1202725"/>
                </a:cubicBezTo>
                <a:cubicBezTo>
                  <a:pt x="267032" y="1170786"/>
                  <a:pt x="281242" y="1181142"/>
                  <a:pt x="247135" y="1169773"/>
                </a:cubicBezTo>
                <a:cubicBezTo>
                  <a:pt x="241643" y="1161535"/>
                  <a:pt x="238266" y="1151398"/>
                  <a:pt x="230660" y="1145060"/>
                </a:cubicBezTo>
                <a:cubicBezTo>
                  <a:pt x="181840" y="1104377"/>
                  <a:pt x="211559" y="1155289"/>
                  <a:pt x="172995" y="1103870"/>
                </a:cubicBezTo>
                <a:cubicBezTo>
                  <a:pt x="163388" y="1091061"/>
                  <a:pt x="158701" y="1074838"/>
                  <a:pt x="148281" y="1062681"/>
                </a:cubicBezTo>
                <a:cubicBezTo>
                  <a:pt x="141838" y="1055164"/>
                  <a:pt x="131085" y="1052649"/>
                  <a:pt x="123568" y="1046206"/>
                </a:cubicBezTo>
                <a:cubicBezTo>
                  <a:pt x="65813" y="996702"/>
                  <a:pt x="110579" y="1032267"/>
                  <a:pt x="74141" y="988541"/>
                </a:cubicBezTo>
                <a:cubicBezTo>
                  <a:pt x="50448" y="960109"/>
                  <a:pt x="30357" y="956043"/>
                  <a:pt x="16476" y="914400"/>
                </a:cubicBezTo>
                <a:lnTo>
                  <a:pt x="0" y="864973"/>
                </a:lnTo>
                <a:cubicBezTo>
                  <a:pt x="2746" y="843005"/>
                  <a:pt x="2413" y="820429"/>
                  <a:pt x="8238" y="799070"/>
                </a:cubicBezTo>
                <a:cubicBezTo>
                  <a:pt x="10843" y="789518"/>
                  <a:pt x="18376" y="781963"/>
                  <a:pt x="24714" y="774357"/>
                </a:cubicBezTo>
                <a:cubicBezTo>
                  <a:pt x="37731" y="758737"/>
                  <a:pt x="55623" y="742427"/>
                  <a:pt x="74141" y="733168"/>
                </a:cubicBezTo>
                <a:cubicBezTo>
                  <a:pt x="81908" y="729285"/>
                  <a:pt x="91263" y="729147"/>
                  <a:pt x="98854" y="724930"/>
                </a:cubicBezTo>
                <a:cubicBezTo>
                  <a:pt x="183830" y="677721"/>
                  <a:pt x="117075" y="702381"/>
                  <a:pt x="172995" y="683741"/>
                </a:cubicBezTo>
                <a:cubicBezTo>
                  <a:pt x="181233" y="678249"/>
                  <a:pt x="188853" y="671693"/>
                  <a:pt x="197708" y="667265"/>
                </a:cubicBezTo>
                <a:cubicBezTo>
                  <a:pt x="235573" y="648332"/>
                  <a:pt x="204573" y="653535"/>
                  <a:pt x="205946" y="65078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2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89469" y="3443588"/>
            <a:ext cx="42919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must have a path from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-10337" y="3443588"/>
                <a:ext cx="429611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must have a path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37" y="3443588"/>
                <a:ext cx="4296112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2128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1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-10337" y="3443588"/>
                <a:ext cx="4296112" cy="2431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must have a path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Contradiction!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37" y="3443588"/>
                <a:ext cx="4296112" cy="2431435"/>
              </a:xfrm>
              <a:prstGeom prst="rect">
                <a:avLst/>
              </a:prstGeom>
              <a:blipFill rotWithShape="0">
                <a:blip r:embed="rId4"/>
                <a:stretch>
                  <a:fillRect l="-354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12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697" y="3560548"/>
            <a:ext cx="3819525" cy="26860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86240" y="1746183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3525113" y="5154180"/>
            <a:ext cx="457244" cy="4422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4153836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643"/>
            <a:ext cx="5189416" cy="156930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055646" y="1906568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61371" y="192867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519758" y="295043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785713" y="3963809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9106231" y="3963809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>
            <a:endCxn id="5" idx="4"/>
          </p:cNvCxnSpPr>
          <p:nvPr/>
        </p:nvCxnSpPr>
        <p:spPr>
          <a:xfrm flipV="1">
            <a:off x="8187403" y="2392989"/>
            <a:ext cx="1144876" cy="1644017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6"/>
            <a:endCxn id="5" idx="2"/>
          </p:cNvCxnSpPr>
          <p:nvPr/>
        </p:nvCxnSpPr>
        <p:spPr>
          <a:xfrm>
            <a:off x="8218615" y="2149779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7"/>
            <a:endCxn id="6" idx="3"/>
          </p:cNvCxnSpPr>
          <p:nvPr/>
        </p:nvCxnSpPr>
        <p:spPr>
          <a:xfrm flipV="1">
            <a:off x="6910040" y="2306120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6"/>
            <a:endCxn id="5" idx="3"/>
          </p:cNvCxnSpPr>
          <p:nvPr/>
        </p:nvCxnSpPr>
        <p:spPr>
          <a:xfrm flipV="1">
            <a:off x="6977002" y="2321754"/>
            <a:ext cx="2159668" cy="8497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76698" y="343625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07843" y="288180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38815" y="306173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70618" y="178253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9336" y="2339732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33185" y="279983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92884" y="330908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9977" y="1552489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27958" y="1540236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97692" y="433107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84247" y="429720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92272" y="280354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96297" y="301010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8272159" y="4229838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41782" y="416740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>
            <a:stCxn id="5" idx="4"/>
            <a:endCxn id="9" idx="0"/>
          </p:cNvCxnSpPr>
          <p:nvPr/>
        </p:nvCxnSpPr>
        <p:spPr>
          <a:xfrm>
            <a:off x="9332279" y="2392989"/>
            <a:ext cx="2574" cy="1570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034817" y="2380629"/>
            <a:ext cx="2574" cy="1570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5"/>
          </p:cNvCxnSpPr>
          <p:nvPr/>
        </p:nvCxnSpPr>
        <p:spPr>
          <a:xfrm>
            <a:off x="8151653" y="2306120"/>
            <a:ext cx="1039035" cy="1678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523875" y="194129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6757954" y="2388242"/>
            <a:ext cx="2574" cy="5505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89138" y="235208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6962349" y="2178609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214352" y="181136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93346" y="1912769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147985" y="3470808"/>
            <a:ext cx="6042120" cy="2134437"/>
            <a:chOff x="147985" y="3470808"/>
            <a:chExt cx="6042120" cy="2134437"/>
          </a:xfrm>
        </p:grpSpPr>
        <p:sp>
          <p:nvSpPr>
            <p:cNvPr id="36" name="Oval 35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85870" y="414679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2930685" y="4167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1810336" y="4150914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4067499" y="4183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5185386" y="4187983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77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04703" y="354082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361383" y="478935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729763" y="483465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600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786240" y="774115"/>
            <a:ext cx="3419220" cy="3252507"/>
            <a:chOff x="786240" y="774115"/>
            <a:chExt cx="3419220" cy="3252507"/>
          </a:xfrm>
        </p:grpSpPr>
        <p:sp>
          <p:nvSpPr>
            <p:cNvPr id="5" name="Oval 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/>
            <p:cNvCxnSpPr>
              <a:endCxn id="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6" idx="6"/>
              <a:endCxn id="5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7"/>
              <a:endCxn id="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5"/>
              <a:endCxn id="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5818" y="1573611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rc 55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625247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Arc 60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>
              <a:endCxn id="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792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86240" y="774115"/>
            <a:ext cx="3130891" cy="3252507"/>
            <a:chOff x="786240" y="774115"/>
            <a:chExt cx="3130891" cy="3252507"/>
          </a:xfrm>
        </p:grpSpPr>
        <p:sp>
          <p:nvSpPr>
            <p:cNvPr id="5" name="Oval 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4" name="Straight Connector 13"/>
            <p:cNvCxnSpPr>
              <a:endCxn id="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7"/>
              <a:endCxn id="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5"/>
              <a:endCxn id="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rc 5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>
              <a:endCxn id="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9" idx="0"/>
              <a:endCxn id="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endCxn id="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16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97693"/>
            <a:ext cx="10515600" cy="9834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C00000"/>
                </a:solidFill>
              </a:rPr>
              <a:t>End of Slides</a:t>
            </a:r>
            <a:endParaRPr lang="en-US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1840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smtClean="0">
                <a:solidFill>
                  <a:schemeClr val="accent2">
                    <a:lumMod val="50000"/>
                  </a:schemeClr>
                </a:solidFill>
              </a:rPr>
              <a:t>Negative Weight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Edges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600200"/>
            <a:ext cx="9277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02941" y="1260156"/>
            <a:ext cx="6509318" cy="3064196"/>
            <a:chOff x="1495589" y="1225886"/>
            <a:chExt cx="8811790" cy="4289159"/>
          </a:xfrm>
        </p:grpSpPr>
        <p:sp>
          <p:nvSpPr>
            <p:cNvPr id="38" name="Oval 37"/>
            <p:cNvSpPr/>
            <p:nvPr/>
          </p:nvSpPr>
          <p:spPr>
            <a:xfrm>
              <a:off x="4928470" y="1738665"/>
              <a:ext cx="748966" cy="6808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3176385" y="1769614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95589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209337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996948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8168516" y="313208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3276186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825112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Connector 46"/>
            <p:cNvCxnSpPr>
              <a:stCxn id="38" idx="6"/>
              <a:endCxn id="45" idx="1"/>
            </p:cNvCxnSpPr>
            <p:nvPr/>
          </p:nvCxnSpPr>
          <p:spPr>
            <a:xfrm>
              <a:off x="5677435" y="2079104"/>
              <a:ext cx="1238324" cy="121137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2" idx="6"/>
              <a:endCxn id="45" idx="3"/>
            </p:cNvCxnSpPr>
            <p:nvPr/>
          </p:nvCxnSpPr>
          <p:spPr>
            <a:xfrm flipV="1">
              <a:off x="5615928" y="3728160"/>
              <a:ext cx="1299832" cy="11996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6"/>
              <a:endCxn id="38" idx="2"/>
            </p:cNvCxnSpPr>
            <p:nvPr/>
          </p:nvCxnSpPr>
          <p:spPr>
            <a:xfrm>
              <a:off x="3795365" y="2079104"/>
              <a:ext cx="113310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7"/>
              <a:endCxn id="39" idx="3"/>
            </p:cNvCxnSpPr>
            <p:nvPr/>
          </p:nvCxnSpPr>
          <p:spPr>
            <a:xfrm flipV="1">
              <a:off x="2023921" y="2297945"/>
              <a:ext cx="1243111" cy="99253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0" idx="5"/>
              <a:endCxn id="41" idx="1"/>
            </p:cNvCxnSpPr>
            <p:nvPr/>
          </p:nvCxnSpPr>
          <p:spPr>
            <a:xfrm>
              <a:off x="2023921" y="3728160"/>
              <a:ext cx="1276063" cy="98080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080857" y="2121098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053229" y="2968508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236152" y="4177237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09465" y="4070553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136506" y="1565054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07250" y="2344994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993775" y="3195707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44" idx="2"/>
            </p:cNvCxnSpPr>
            <p:nvPr/>
          </p:nvCxnSpPr>
          <p:spPr>
            <a:xfrm flipV="1">
              <a:off x="2090522" y="3509320"/>
              <a:ext cx="1185665" cy="28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583902" y="3505197"/>
              <a:ext cx="1270377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/>
            <p:cNvSpPr/>
            <p:nvPr/>
          </p:nvSpPr>
          <p:spPr>
            <a:xfrm>
              <a:off x="3758991" y="322799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Arc 76"/>
            <p:cNvSpPr/>
            <p:nvPr/>
          </p:nvSpPr>
          <p:spPr>
            <a:xfrm rot="10800000">
              <a:off x="3771345" y="3471010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rc 77"/>
            <p:cNvSpPr/>
            <p:nvPr/>
          </p:nvSpPr>
          <p:spPr>
            <a:xfrm>
              <a:off x="3721920" y="4714926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Arc 78"/>
            <p:cNvSpPr/>
            <p:nvPr/>
          </p:nvSpPr>
          <p:spPr>
            <a:xfrm rot="10800000">
              <a:off x="3726036" y="488380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9688399" y="313620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8975824" y="4260669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8761020" y="3435171"/>
              <a:ext cx="954453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3" idx="3"/>
              <a:endCxn id="34" idx="7"/>
            </p:cNvCxnSpPr>
            <p:nvPr/>
          </p:nvCxnSpPr>
          <p:spPr>
            <a:xfrm flipH="1">
              <a:off x="9504156" y="3664533"/>
              <a:ext cx="274890" cy="6867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43" idx="5"/>
            </p:cNvCxnSpPr>
            <p:nvPr/>
          </p:nvCxnSpPr>
          <p:spPr>
            <a:xfrm flipH="1" flipV="1">
              <a:off x="8696848" y="3660413"/>
              <a:ext cx="390757" cy="69682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029354" y="2885563"/>
              <a:ext cx="403058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404344" y="3906136"/>
              <a:ext cx="649129" cy="469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51758" y="3742357"/>
              <a:ext cx="443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21877" y="2986721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98290" y="2687570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140622" y="3692161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18061" y="5053380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80915" y="4218065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618433" y="2675595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23407" y="124303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61732" y="1225886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99608" y="2688928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237931" y="2662263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360925" y="4117679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37931" y="4012613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19107" y="259558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295457" y="2698431"/>
              <a:ext cx="366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867081" y="2641304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124132" y="4717742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415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/>
          <p:cNvSpPr/>
          <p:nvPr/>
        </p:nvSpPr>
        <p:spPr>
          <a:xfrm>
            <a:off x="5021598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204521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523725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23747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2" name="Oval 41"/>
          <p:cNvSpPr/>
          <p:nvPr/>
        </p:nvSpPr>
        <p:spPr>
          <a:xfrm>
            <a:off x="502508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3" name="Oval 42"/>
          <p:cNvSpPr/>
          <p:nvPr/>
        </p:nvSpPr>
        <p:spPr>
          <a:xfrm>
            <a:off x="8196651" y="316021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304322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853248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>
            <a:stCxn id="38" idx="6"/>
            <a:endCxn id="45" idx="1"/>
          </p:cNvCxnSpPr>
          <p:nvPr/>
        </p:nvCxnSpPr>
        <p:spPr>
          <a:xfrm>
            <a:off x="5584306" y="2079104"/>
            <a:ext cx="1351349" cy="12312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2" idx="6"/>
            <a:endCxn id="45" idx="3"/>
          </p:cNvCxnSpPr>
          <p:nvPr/>
        </p:nvCxnSpPr>
        <p:spPr>
          <a:xfrm flipV="1">
            <a:off x="5587791" y="3708266"/>
            <a:ext cx="1347864" cy="12195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9" idx="6"/>
            <a:endCxn id="38" idx="2"/>
          </p:cNvCxnSpPr>
          <p:nvPr/>
        </p:nvCxnSpPr>
        <p:spPr>
          <a:xfrm>
            <a:off x="3767229" y="2079104"/>
            <a:ext cx="1254369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0" idx="7"/>
            <a:endCxn id="39" idx="3"/>
          </p:cNvCxnSpPr>
          <p:nvPr/>
        </p:nvCxnSpPr>
        <p:spPr>
          <a:xfrm flipV="1">
            <a:off x="2004026" y="2278051"/>
            <a:ext cx="1282902" cy="10323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0" idx="5"/>
            <a:endCxn id="41" idx="1"/>
          </p:cNvCxnSpPr>
          <p:nvPr/>
        </p:nvCxnSpPr>
        <p:spPr>
          <a:xfrm>
            <a:off x="2004026" y="3708266"/>
            <a:ext cx="1315854" cy="102059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69705" y="222488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3229" y="310183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36152" y="42705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09465" y="407055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36506" y="164505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51857" y="24603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021910" y="3223843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Straight Connector 74"/>
          <p:cNvCxnSpPr>
            <a:endCxn id="44" idx="2"/>
          </p:cNvCxnSpPr>
          <p:nvPr/>
        </p:nvCxnSpPr>
        <p:spPr>
          <a:xfrm flipV="1">
            <a:off x="2090522" y="3509319"/>
            <a:ext cx="1213800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5583902" y="3505197"/>
            <a:ext cx="1270377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>
            <a:off x="3758991" y="322799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rc 76"/>
          <p:cNvSpPr/>
          <p:nvPr/>
        </p:nvSpPr>
        <p:spPr>
          <a:xfrm rot="10800000">
            <a:off x="3771345" y="3471010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Arc 77"/>
          <p:cNvSpPr/>
          <p:nvPr/>
        </p:nvSpPr>
        <p:spPr>
          <a:xfrm>
            <a:off x="3721920" y="4714926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Arc 78"/>
          <p:cNvSpPr/>
          <p:nvPr/>
        </p:nvSpPr>
        <p:spPr>
          <a:xfrm rot="10800000">
            <a:off x="3726036" y="488380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716535" y="316433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4" name="Oval 33"/>
          <p:cNvSpPr/>
          <p:nvPr/>
        </p:nvSpPr>
        <p:spPr>
          <a:xfrm>
            <a:off x="9003959" y="428880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8761020" y="3435171"/>
            <a:ext cx="954453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  <a:endCxn id="34" idx="7"/>
          </p:cNvCxnSpPr>
          <p:nvPr/>
        </p:nvCxnSpPr>
        <p:spPr>
          <a:xfrm flipH="1">
            <a:off x="9484260" y="3644638"/>
            <a:ext cx="314682" cy="7265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43" idx="5"/>
          </p:cNvCxnSpPr>
          <p:nvPr/>
        </p:nvCxnSpPr>
        <p:spPr>
          <a:xfrm flipH="1" flipV="1">
            <a:off x="8676952" y="3640519"/>
            <a:ext cx="410651" cy="71672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29354" y="3058889"/>
            <a:ext cx="403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94333" y="3919469"/>
            <a:ext cx="443364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51758" y="3742357"/>
            <a:ext cx="443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21877" y="3090502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98290" y="279423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40622" y="36921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56744" y="510671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80915" y="421806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184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23407" y="14030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61732" y="13458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99607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379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99607" y="42510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237932" y="42605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19107" y="27555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295457" y="26984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7082" y="27746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124132" y="47844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9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19559</TotalTime>
  <Words>3316</Words>
  <Application>Microsoft Office PowerPoint</Application>
  <PresentationFormat>Custom</PresentationFormat>
  <Paragraphs>1579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CSE 207: Data Structures and Algorithms-II (Part 1)</vt:lpstr>
      <vt:lpstr>SSSP for DAG</vt:lpstr>
      <vt:lpstr>SSSP for DAG</vt:lpstr>
      <vt:lpstr>SSSP for DAG</vt:lpstr>
      <vt:lpstr>SSSP for DAG</vt:lpstr>
      <vt:lpstr>SSSP for DAG</vt:lpstr>
      <vt:lpstr>SSSP for DAG</vt:lpstr>
      <vt:lpstr>SSSP for DAG</vt:lpstr>
      <vt:lpstr>SSSP for DAG</vt:lpstr>
      <vt:lpstr>Simulation of SSSP for DAG</vt:lpstr>
      <vt:lpstr>Simulation of SSSP for DAG</vt:lpstr>
      <vt:lpstr>Simulation of SSSP for DAG</vt:lpstr>
      <vt:lpstr>Simulation of SSSP for DAG</vt:lpstr>
      <vt:lpstr>Simulation of SSSP for DAG</vt:lpstr>
      <vt:lpstr>Simulation of SSSP for DAG</vt:lpstr>
      <vt:lpstr>Simulation of SSSP for DAG</vt:lpstr>
      <vt:lpstr>Correctness Theorem of SSSP Algorithm for DAG</vt:lpstr>
      <vt:lpstr>Correctness Theorem of SSSP Algorithm for DAG</vt:lpstr>
      <vt:lpstr>Correctness Theorem of SSSP Algorithm for DAG</vt:lpstr>
      <vt:lpstr>Correctness Theorem of SSSP Algorithm for DAG</vt:lpstr>
      <vt:lpstr>Correctness Theorem of SSSP Algorithm for DAG</vt:lpstr>
      <vt:lpstr>Correctness Theorem of SSSP Algorithm for DAG</vt:lpstr>
      <vt:lpstr>Correctness Theorem of SSSP Algorithm for DAG</vt:lpstr>
      <vt:lpstr>Correctness Theorem of SSSP Algorithm for DAG</vt:lpstr>
      <vt:lpstr>Complexity of SSSP for DAG</vt:lpstr>
      <vt:lpstr>Complexity of SSSP for DAG</vt:lpstr>
      <vt:lpstr>Dijkstra Algorithm for SSSP</vt:lpstr>
      <vt:lpstr>Dijkstra Algorithm for SSSP</vt:lpstr>
      <vt:lpstr>Dijkstra Algorithm for SSSP</vt:lpstr>
      <vt:lpstr>Dijkstra Algorithm for SSSP</vt:lpstr>
      <vt:lpstr>Dijkstra Algorithm for SSSP</vt:lpstr>
      <vt:lpstr>Dijkstra Algorithm for SSSP</vt:lpstr>
      <vt:lpstr>Simulation of Dijkstra Algorithm</vt:lpstr>
      <vt:lpstr>Simulation of Dijkstra Algorithm</vt:lpstr>
      <vt:lpstr>Simulation of Dijkstra Algorithm</vt:lpstr>
      <vt:lpstr>Simulation of Dijkstra Algorithm</vt:lpstr>
      <vt:lpstr>Simulation of Dijkstra Algorithm</vt:lpstr>
      <vt:lpstr>Simulation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Weight Edges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user</dc:creator>
  <cp:lastModifiedBy>ismail - [2010]</cp:lastModifiedBy>
  <cp:revision>454</cp:revision>
  <cp:lastPrinted>2023-07-12T06:48:09Z</cp:lastPrinted>
  <dcterms:created xsi:type="dcterms:W3CDTF">2021-12-07T16:05:05Z</dcterms:created>
  <dcterms:modified xsi:type="dcterms:W3CDTF">2026-07-05T06:44:55Z</dcterms:modified>
</cp:coreProperties>
</file>
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758" r:id="rId3"/>
    <p:sldId id="764" r:id="rId4"/>
    <p:sldId id="766" r:id="rId5"/>
    <p:sldId id="767" r:id="rId6"/>
    <p:sldId id="768" r:id="rId7"/>
    <p:sldId id="769" r:id="rId8"/>
    <p:sldId id="770" r:id="rId9"/>
    <p:sldId id="771" r:id="rId10"/>
    <p:sldId id="772" r:id="rId11"/>
    <p:sldId id="773" r:id="rId12"/>
    <p:sldId id="774" r:id="rId13"/>
    <p:sldId id="775" r:id="rId14"/>
    <p:sldId id="776" r:id="rId15"/>
    <p:sldId id="779" r:id="rId16"/>
    <p:sldId id="780" r:id="rId17"/>
    <p:sldId id="781" r:id="rId18"/>
    <p:sldId id="782" r:id="rId19"/>
    <p:sldId id="783" r:id="rId20"/>
    <p:sldId id="784" r:id="rId21"/>
    <p:sldId id="785" r:id="rId22"/>
    <p:sldId id="786" r:id="rId23"/>
    <p:sldId id="787" r:id="rId24"/>
    <p:sldId id="788" r:id="rId25"/>
    <p:sldId id="789" r:id="rId26"/>
    <p:sldId id="790" r:id="rId27"/>
    <p:sldId id="791" r:id="rId28"/>
    <p:sldId id="792" r:id="rId29"/>
    <p:sldId id="793" r:id="rId30"/>
    <p:sldId id="794" r:id="rId31"/>
    <p:sldId id="795" r:id="rId32"/>
    <p:sldId id="796" r:id="rId33"/>
    <p:sldId id="798" r:id="rId34"/>
    <p:sldId id="803" r:id="rId35"/>
    <p:sldId id="799" r:id="rId36"/>
    <p:sldId id="800" r:id="rId37"/>
    <p:sldId id="804" r:id="rId38"/>
    <p:sldId id="801" r:id="rId39"/>
    <p:sldId id="805" r:id="rId40"/>
    <p:sldId id="806" r:id="rId41"/>
    <p:sldId id="807" r:id="rId42"/>
    <p:sldId id="808" r:id="rId43"/>
    <p:sldId id="810" r:id="rId44"/>
    <p:sldId id="809" r:id="rId45"/>
    <p:sldId id="811" r:id="rId46"/>
    <p:sldId id="812" r:id="rId47"/>
    <p:sldId id="813" r:id="rId48"/>
    <p:sldId id="814" r:id="rId49"/>
    <p:sldId id="815" r:id="rId50"/>
    <p:sldId id="816" r:id="rId51"/>
    <p:sldId id="818" r:id="rId52"/>
    <p:sldId id="817" r:id="rId53"/>
    <p:sldId id="819" r:id="rId54"/>
    <p:sldId id="820" r:id="rId55"/>
    <p:sldId id="821" r:id="rId56"/>
    <p:sldId id="777" r:id="rId57"/>
    <p:sldId id="778" r:id="rId58"/>
    <p:sldId id="822" r:id="rId59"/>
    <p:sldId id="823" r:id="rId60"/>
    <p:sldId id="725" r:id="rId61"/>
    <p:sldId id="765" r:id="rId62"/>
    <p:sldId id="705" r:id="rId63"/>
    <p:sldId id="693" r:id="rId64"/>
    <p:sldId id="664" r:id="rId65"/>
    <p:sldId id="670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5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024C9-18AD-495D-A54A-6FFA96519E06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18759-DABD-4892-B834-CDF2E12FF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4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2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0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30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3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5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1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0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9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67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7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EA405-C945-40C5-A026-D7A5AF97B225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0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1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60.png"/><Relationship Id="rId7" Type="http://schemas.openxmlformats.org/officeDocument/2006/relationships/image" Target="../media/image1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93556"/>
            <a:ext cx="9144000" cy="1524644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CSE 207:</a:t>
            </a:r>
            <a:b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Algorithms-II</a:t>
            </a:r>
            <a:b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(Part 1)</a:t>
            </a:r>
            <a:endParaRPr lang="en-US" sz="48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70449"/>
            <a:ext cx="9144000" cy="1655762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Instructor</a:t>
            </a:r>
          </a:p>
          <a:p>
            <a:r>
              <a:rPr lang="en-US" dirty="0" err="1" smtClean="0"/>
              <a:t>Dr</a:t>
            </a:r>
            <a:r>
              <a:rPr lang="en-US" dirty="0" smtClean="0"/>
              <a:t> </a:t>
            </a:r>
            <a:r>
              <a:rPr lang="en-US" dirty="0" err="1" smtClean="0"/>
              <a:t>Md</a:t>
            </a:r>
            <a:r>
              <a:rPr lang="en-US" dirty="0" smtClean="0"/>
              <a:t> </a:t>
            </a:r>
            <a:r>
              <a:rPr lang="en-US" dirty="0" err="1" smtClean="0"/>
              <a:t>Monirul</a:t>
            </a:r>
            <a:r>
              <a:rPr lang="en-US" dirty="0" smtClean="0"/>
              <a:t> Islam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67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Bellman-Ford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500187"/>
            <a:ext cx="529590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Bellman-Ford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4620" y="4371612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75502" y="1227195"/>
            <a:ext cx="3130891" cy="3252507"/>
            <a:chOff x="786240" y="774115"/>
            <a:chExt cx="3130891" cy="3252507"/>
          </a:xfrm>
        </p:grpSpPr>
        <p:sp>
          <p:nvSpPr>
            <p:cNvPr id="8" name="Oval 7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3" name="Straight Connector 12"/>
            <p:cNvCxnSpPr>
              <a:endCxn id="8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10" idx="7"/>
              <a:endCxn id="9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5"/>
              <a:endCxn id="11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Arc 25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Straight Connector 30"/>
            <p:cNvCxnSpPr>
              <a:endCxn id="10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>
              <a:stCxn id="12" idx="0"/>
              <a:endCxn id="8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endCxn id="11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6" name="Straight Connector 35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333904" y="6083643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process edges in the order: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81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Bellman-Ford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4620" y="4371612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75502" y="1227195"/>
            <a:ext cx="3130891" cy="3252507"/>
            <a:chOff x="786240" y="774115"/>
            <a:chExt cx="3130891" cy="3252507"/>
          </a:xfrm>
        </p:grpSpPr>
        <p:sp>
          <p:nvSpPr>
            <p:cNvPr id="8" name="Oval 7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3" name="Straight Connector 12"/>
            <p:cNvCxnSpPr>
              <a:endCxn id="8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10" idx="7"/>
              <a:endCxn id="9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5"/>
              <a:endCxn id="11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Arc 25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Straight Connector 30"/>
            <p:cNvCxnSpPr>
              <a:endCxn id="10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>
              <a:stCxn id="12" idx="0"/>
              <a:endCxn id="8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endCxn id="11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6" name="Straight Connector 35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5180521" y="4392204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4003124" y="1247787"/>
            <a:ext cx="3130891" cy="3252507"/>
            <a:chOff x="786240" y="774115"/>
            <a:chExt cx="3130891" cy="3252507"/>
          </a:xfrm>
        </p:grpSpPr>
        <p:sp>
          <p:nvSpPr>
            <p:cNvPr id="41" name="Oval 40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42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46" name="Straight Connector 45"/>
            <p:cNvCxnSpPr>
              <a:endCxn id="41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43" idx="7"/>
              <a:endCxn id="42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5"/>
              <a:endCxn id="44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rc 58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rc 59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Straight Connector 63"/>
            <p:cNvCxnSpPr>
              <a:endCxn id="43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" name="Straight Connector 65"/>
            <p:cNvCxnSpPr>
              <a:stCxn id="45" idx="0"/>
              <a:endCxn id="41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endCxn id="44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9" name="Straight Connector 68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333904" y="6083643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process edges in the order: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27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Bellman-Ford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4620" y="4371612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75502" y="1227195"/>
            <a:ext cx="3130891" cy="3252507"/>
            <a:chOff x="786240" y="774115"/>
            <a:chExt cx="3130891" cy="3252507"/>
          </a:xfrm>
        </p:grpSpPr>
        <p:sp>
          <p:nvSpPr>
            <p:cNvPr id="8" name="Oval 7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3" name="Straight Connector 12"/>
            <p:cNvCxnSpPr>
              <a:endCxn id="8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10" idx="7"/>
              <a:endCxn id="9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5"/>
              <a:endCxn id="11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Arc 25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Straight Connector 30"/>
            <p:cNvCxnSpPr>
              <a:endCxn id="10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>
              <a:stCxn id="12" idx="0"/>
              <a:endCxn id="8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endCxn id="11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6" name="Straight Connector 35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5180521" y="4392204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4003124" y="1247787"/>
            <a:ext cx="3130891" cy="3252507"/>
            <a:chOff x="786240" y="774115"/>
            <a:chExt cx="3130891" cy="3252507"/>
          </a:xfrm>
        </p:grpSpPr>
        <p:sp>
          <p:nvSpPr>
            <p:cNvPr id="41" name="Oval 40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42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46" name="Straight Connector 45"/>
            <p:cNvCxnSpPr>
              <a:endCxn id="41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43" idx="7"/>
              <a:endCxn id="42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5"/>
              <a:endCxn id="44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rc 58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rc 59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Straight Connector 63"/>
            <p:cNvCxnSpPr>
              <a:endCxn id="43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" name="Straight Connector 65"/>
            <p:cNvCxnSpPr>
              <a:stCxn id="45" idx="0"/>
              <a:endCxn id="41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endCxn id="44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9" name="Straight Connector 68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Rectangle 70"/>
          <p:cNvSpPr/>
          <p:nvPr/>
        </p:nvSpPr>
        <p:spPr>
          <a:xfrm>
            <a:off x="9015227" y="4388082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2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7837830" y="1243665"/>
            <a:ext cx="3130891" cy="3252507"/>
            <a:chOff x="786240" y="774115"/>
            <a:chExt cx="3130891" cy="3252507"/>
          </a:xfrm>
        </p:grpSpPr>
        <p:sp>
          <p:nvSpPr>
            <p:cNvPr id="73" name="Oval 72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Oval 75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Oval 76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Straight Connector 77"/>
            <p:cNvCxnSpPr>
              <a:endCxn id="73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75" idx="7"/>
              <a:endCxn id="74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75" idx="5"/>
              <a:endCxn id="76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Arc 90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Arc 91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4" name="Straight Connector 93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6" name="Straight Connector 95"/>
            <p:cNvCxnSpPr>
              <a:endCxn id="75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8" name="Straight Connector 97"/>
            <p:cNvCxnSpPr>
              <a:stCxn id="77" idx="0"/>
              <a:endCxn id="73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endCxn id="76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1" name="Straight Connector 100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TextBox 102"/>
          <p:cNvSpPr txBox="1"/>
          <p:nvPr/>
        </p:nvSpPr>
        <p:spPr>
          <a:xfrm>
            <a:off x="333904" y="6083643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process edges in the order: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y, 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96831" y="5651155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changes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=11           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            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                               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Bellman-Ford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539401" y="4392204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362004" y="1247787"/>
            <a:ext cx="3130891" cy="3252507"/>
            <a:chOff x="786240" y="774115"/>
            <a:chExt cx="3130891" cy="3252507"/>
          </a:xfrm>
        </p:grpSpPr>
        <p:sp>
          <p:nvSpPr>
            <p:cNvPr id="41" name="Oval 40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42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46" name="Straight Connector 45"/>
            <p:cNvCxnSpPr>
              <a:endCxn id="41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43" idx="7"/>
              <a:endCxn id="42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3" idx="5"/>
              <a:endCxn id="44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rc 58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rc 59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Straight Connector 63"/>
            <p:cNvCxnSpPr>
              <a:endCxn id="43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" name="Straight Connector 65"/>
            <p:cNvCxnSpPr>
              <a:stCxn id="45" idx="0"/>
              <a:endCxn id="41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endCxn id="44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9" name="Straight Connector 68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Rectangle 70"/>
          <p:cNvSpPr/>
          <p:nvPr/>
        </p:nvSpPr>
        <p:spPr>
          <a:xfrm>
            <a:off x="5374107" y="4388082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2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4196710" y="1243665"/>
            <a:ext cx="3130891" cy="3252507"/>
            <a:chOff x="786240" y="774115"/>
            <a:chExt cx="3130891" cy="3252507"/>
          </a:xfrm>
        </p:grpSpPr>
        <p:sp>
          <p:nvSpPr>
            <p:cNvPr id="73" name="Oval 72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Oval 75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Oval 76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Straight Connector 77"/>
            <p:cNvCxnSpPr>
              <a:endCxn id="73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75" idx="7"/>
              <a:endCxn id="74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75" idx="5"/>
              <a:endCxn id="76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Arc 90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Arc 91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4" name="Straight Connector 93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6" name="Straight Connector 95"/>
            <p:cNvCxnSpPr>
              <a:endCxn id="75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8" name="Straight Connector 97"/>
            <p:cNvCxnSpPr>
              <a:stCxn id="77" idx="0"/>
              <a:endCxn id="73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endCxn id="76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1" name="Straight Connector 100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9414767" y="4318058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3</a:t>
            </a:r>
          </a:p>
        </p:txBody>
      </p:sp>
      <p:grpSp>
        <p:nvGrpSpPr>
          <p:cNvPr id="104" name="Group 103"/>
          <p:cNvGrpSpPr/>
          <p:nvPr/>
        </p:nvGrpSpPr>
        <p:grpSpPr>
          <a:xfrm>
            <a:off x="8237370" y="1173641"/>
            <a:ext cx="3130891" cy="3252507"/>
            <a:chOff x="786240" y="774115"/>
            <a:chExt cx="3130891" cy="3252507"/>
          </a:xfrm>
        </p:grpSpPr>
        <p:sp>
          <p:nvSpPr>
            <p:cNvPr id="105" name="Oval 104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Oval 105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Oval 106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Oval 107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Oval 108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0" name="Straight Connector 109"/>
            <p:cNvCxnSpPr>
              <a:endCxn id="105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>
              <a:stCxn id="107" idx="7"/>
              <a:endCxn id="106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>
              <a:stCxn id="107" idx="5"/>
              <a:endCxn id="108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Arc 122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Arc 123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8" name="Straight Connector 127"/>
            <p:cNvCxnSpPr>
              <a:endCxn id="107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0" name="Straight Connector 129"/>
            <p:cNvCxnSpPr>
              <a:stCxn id="109" idx="0"/>
              <a:endCxn id="105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endCxn id="108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3" name="Straight Connector 132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5" name="TextBox 134"/>
          <p:cNvSpPr txBox="1"/>
          <p:nvPr/>
        </p:nvSpPr>
        <p:spPr>
          <a:xfrm>
            <a:off x="333904" y="6083643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process edges in the order: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96831" y="5651155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changes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              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21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Bellman-Ford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502329" y="4388082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2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324932" y="1243665"/>
            <a:ext cx="3130891" cy="3252507"/>
            <a:chOff x="786240" y="774115"/>
            <a:chExt cx="3130891" cy="3252507"/>
          </a:xfrm>
        </p:grpSpPr>
        <p:sp>
          <p:nvSpPr>
            <p:cNvPr id="73" name="Oval 72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Oval 75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Oval 76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Straight Connector 77"/>
            <p:cNvCxnSpPr>
              <a:endCxn id="73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75" idx="7"/>
              <a:endCxn id="74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75" idx="5"/>
              <a:endCxn id="76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Arc 90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Arc 91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4" name="Straight Connector 93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6" name="Straight Connector 95"/>
            <p:cNvCxnSpPr>
              <a:endCxn id="75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8" name="Straight Connector 97"/>
            <p:cNvCxnSpPr>
              <a:stCxn id="77" idx="0"/>
              <a:endCxn id="73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endCxn id="76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1" name="Straight Connector 100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5542989" y="4318058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3</a:t>
            </a:r>
          </a:p>
        </p:txBody>
      </p:sp>
      <p:grpSp>
        <p:nvGrpSpPr>
          <p:cNvPr id="104" name="Group 103"/>
          <p:cNvGrpSpPr/>
          <p:nvPr/>
        </p:nvGrpSpPr>
        <p:grpSpPr>
          <a:xfrm>
            <a:off x="4365592" y="1173641"/>
            <a:ext cx="3130891" cy="3252507"/>
            <a:chOff x="786240" y="774115"/>
            <a:chExt cx="3130891" cy="3252507"/>
          </a:xfrm>
        </p:grpSpPr>
        <p:sp>
          <p:nvSpPr>
            <p:cNvPr id="105" name="Oval 104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Oval 105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Oval 106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Oval 107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Oval 108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0" name="Straight Connector 109"/>
            <p:cNvCxnSpPr>
              <a:endCxn id="105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>
              <a:stCxn id="107" idx="7"/>
              <a:endCxn id="106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>
              <a:stCxn id="107" idx="5"/>
              <a:endCxn id="108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Arc 122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Arc 123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8" name="Straight Connector 127"/>
            <p:cNvCxnSpPr>
              <a:endCxn id="107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0" name="Straight Connector 129"/>
            <p:cNvCxnSpPr>
              <a:stCxn id="109" idx="0"/>
              <a:endCxn id="105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endCxn id="108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3" name="Straight Connector 132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5" name="Rectangle 134"/>
          <p:cNvSpPr/>
          <p:nvPr/>
        </p:nvSpPr>
        <p:spPr>
          <a:xfrm>
            <a:off x="9748405" y="4338650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4</a:t>
            </a:r>
          </a:p>
        </p:txBody>
      </p:sp>
      <p:grpSp>
        <p:nvGrpSpPr>
          <p:cNvPr id="136" name="Group 135"/>
          <p:cNvGrpSpPr/>
          <p:nvPr/>
        </p:nvGrpSpPr>
        <p:grpSpPr>
          <a:xfrm>
            <a:off x="8571008" y="1194233"/>
            <a:ext cx="3130891" cy="3252507"/>
            <a:chOff x="786240" y="774115"/>
            <a:chExt cx="3130891" cy="3252507"/>
          </a:xfrm>
        </p:grpSpPr>
        <p:sp>
          <p:nvSpPr>
            <p:cNvPr id="137" name="Oval 136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Oval 137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Oval 138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Oval 139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Oval 140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2" name="Straight Connector 141"/>
            <p:cNvCxnSpPr>
              <a:endCxn id="137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>
              <a:stCxn id="139" idx="7"/>
              <a:endCxn id="138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>
              <a:stCxn id="139" idx="5"/>
              <a:endCxn id="140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Arc 154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Arc 155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8" name="Straight Connector 157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0" name="Straight Connector 159"/>
            <p:cNvCxnSpPr>
              <a:endCxn id="139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160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2" name="Straight Connector 161"/>
            <p:cNvCxnSpPr>
              <a:stCxn id="141" idx="0"/>
              <a:endCxn id="137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>
              <a:endCxn id="140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5" name="Straight Connector 164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Box 165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7" name="TextBox 166"/>
          <p:cNvSpPr txBox="1"/>
          <p:nvPr/>
        </p:nvSpPr>
        <p:spPr>
          <a:xfrm>
            <a:off x="333904" y="6083643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process edges in the order: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296831" y="5651155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changes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z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=-2              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79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74141" y="365125"/>
            <a:ext cx="12060193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Bellman-Ford Algorithm:</a:t>
            </a:r>
            <a:r>
              <a:rPr lang="en-US" sz="4000" b="1" dirty="0" smtClean="0">
                <a:solidFill>
                  <a:srgbClr val="FF0000"/>
                </a:solidFill>
              </a:rPr>
              <a:t> Cycle Detection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4620" y="4371612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</p:txBody>
      </p:sp>
      <p:sp>
        <p:nvSpPr>
          <p:cNvPr id="8" name="Oval 7"/>
          <p:cNvSpPr/>
          <p:nvPr/>
        </p:nvSpPr>
        <p:spPr>
          <a:xfrm>
            <a:off x="2811390" y="1593527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9" name="Oval 8"/>
          <p:cNvSpPr/>
          <p:nvPr/>
        </p:nvSpPr>
        <p:spPr>
          <a:xfrm>
            <a:off x="1517115" y="1615637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10" name="Oval 9"/>
          <p:cNvSpPr/>
          <p:nvPr/>
        </p:nvSpPr>
        <p:spPr>
          <a:xfrm>
            <a:off x="275502" y="2637390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541457" y="365076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13" name="Straight Connector 12"/>
          <p:cNvCxnSpPr>
            <a:endCxn id="8" idx="3"/>
          </p:cNvCxnSpPr>
          <p:nvPr/>
        </p:nvCxnSpPr>
        <p:spPr>
          <a:xfrm flipV="1">
            <a:off x="1943147" y="2008713"/>
            <a:ext cx="949267" cy="171525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0" idx="7"/>
            <a:endCxn id="9" idx="3"/>
          </p:cNvCxnSpPr>
          <p:nvPr/>
        </p:nvCxnSpPr>
        <p:spPr>
          <a:xfrm flipV="1">
            <a:off x="665784" y="1993079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5"/>
            <a:endCxn id="11" idx="1"/>
          </p:cNvCxnSpPr>
          <p:nvPr/>
        </p:nvCxnSpPr>
        <p:spPr>
          <a:xfrm>
            <a:off x="665784" y="3014832"/>
            <a:ext cx="942635" cy="70069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42748" y="1662600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6717" y="3259439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5080" y="2026691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49510" y="2410471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6248" y="2262874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25721" y="1239448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83702" y="1227195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53436" y="4018037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rc 25"/>
          <p:cNvSpPr/>
          <p:nvPr/>
        </p:nvSpPr>
        <p:spPr>
          <a:xfrm>
            <a:off x="1975996" y="1627687"/>
            <a:ext cx="81628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rc 26"/>
          <p:cNvSpPr/>
          <p:nvPr/>
        </p:nvSpPr>
        <p:spPr>
          <a:xfrm rot="10800000">
            <a:off x="1970799" y="1707143"/>
            <a:ext cx="81628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79818" y="1230112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Connector 33"/>
          <p:cNvCxnSpPr>
            <a:endCxn id="11" idx="0"/>
          </p:cNvCxnSpPr>
          <p:nvPr/>
        </p:nvCxnSpPr>
        <p:spPr>
          <a:xfrm flipH="1">
            <a:off x="1770079" y="2077592"/>
            <a:ext cx="10162" cy="1573176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73344" y="2519947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3904" y="6083643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process edges in the order: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71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74141" y="365125"/>
            <a:ext cx="12060193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Bellman-Ford Algorithm:</a:t>
            </a:r>
            <a:r>
              <a:rPr lang="en-US" sz="4000" b="1" dirty="0" smtClean="0">
                <a:solidFill>
                  <a:srgbClr val="FF0000"/>
                </a:solidFill>
              </a:rPr>
              <a:t> Cycle Detection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4620" y="4371612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</p:txBody>
      </p:sp>
      <p:sp>
        <p:nvSpPr>
          <p:cNvPr id="8" name="Oval 7"/>
          <p:cNvSpPr/>
          <p:nvPr/>
        </p:nvSpPr>
        <p:spPr>
          <a:xfrm>
            <a:off x="2811390" y="1593527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9" name="Oval 8"/>
          <p:cNvSpPr/>
          <p:nvPr/>
        </p:nvSpPr>
        <p:spPr>
          <a:xfrm>
            <a:off x="1517115" y="1615637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10" name="Oval 9"/>
          <p:cNvSpPr/>
          <p:nvPr/>
        </p:nvSpPr>
        <p:spPr>
          <a:xfrm>
            <a:off x="275502" y="2637390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541457" y="365076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13" name="Straight Connector 12"/>
          <p:cNvCxnSpPr>
            <a:endCxn id="8" idx="3"/>
          </p:cNvCxnSpPr>
          <p:nvPr/>
        </p:nvCxnSpPr>
        <p:spPr>
          <a:xfrm flipV="1">
            <a:off x="1943147" y="2008713"/>
            <a:ext cx="949267" cy="171525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0" idx="7"/>
            <a:endCxn id="9" idx="3"/>
          </p:cNvCxnSpPr>
          <p:nvPr/>
        </p:nvCxnSpPr>
        <p:spPr>
          <a:xfrm flipV="1">
            <a:off x="665784" y="1993079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5"/>
            <a:endCxn id="11" idx="1"/>
          </p:cNvCxnSpPr>
          <p:nvPr/>
        </p:nvCxnSpPr>
        <p:spPr>
          <a:xfrm>
            <a:off x="665784" y="3014832"/>
            <a:ext cx="942635" cy="70069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42748" y="1662600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6717" y="3259439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5080" y="2026691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49510" y="2410471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6248" y="2262874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25721" y="1239448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83702" y="1227195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53436" y="4018037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rc 25"/>
          <p:cNvSpPr/>
          <p:nvPr/>
        </p:nvSpPr>
        <p:spPr>
          <a:xfrm>
            <a:off x="1975996" y="1627687"/>
            <a:ext cx="81628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rc 26"/>
          <p:cNvSpPr/>
          <p:nvPr/>
        </p:nvSpPr>
        <p:spPr>
          <a:xfrm rot="10800000">
            <a:off x="1970799" y="1707143"/>
            <a:ext cx="81628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79818" y="1230112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Connector 33"/>
          <p:cNvCxnSpPr>
            <a:endCxn id="11" idx="0"/>
          </p:cNvCxnSpPr>
          <p:nvPr/>
        </p:nvCxnSpPr>
        <p:spPr>
          <a:xfrm flipH="1">
            <a:off x="1770079" y="2077592"/>
            <a:ext cx="10162" cy="1573176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73344" y="2519947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414403" y="4367490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525328" y="1223073"/>
            <a:ext cx="3089153" cy="3252507"/>
            <a:chOff x="3525328" y="1223073"/>
            <a:chExt cx="3089153" cy="3252507"/>
          </a:xfrm>
        </p:grpSpPr>
        <p:sp>
          <p:nvSpPr>
            <p:cNvPr id="28" name="Oval 27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4766941" y="1611515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>
              <a:endCxn id="28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30" idx="7"/>
              <a:endCxn id="29" idx="3"/>
            </p:cNvCxnSpPr>
            <p:nvPr/>
          </p:nvCxnSpPr>
          <p:spPr>
            <a:xfrm flipV="1">
              <a:off x="3915610" y="1988957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30" idx="5"/>
              <a:endCxn id="31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Arc 46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Arc 47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Straight Connector 49"/>
            <p:cNvCxnSpPr>
              <a:endCxn id="31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333904" y="6083643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process edges in the order: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6831" y="5651155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changes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=6   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=7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96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74141" y="365125"/>
            <a:ext cx="12060193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Bellman-Ford Algorithm:</a:t>
            </a:r>
            <a:r>
              <a:rPr lang="en-US" sz="4000" b="1" dirty="0" smtClean="0">
                <a:solidFill>
                  <a:srgbClr val="FF0000"/>
                </a:solidFill>
              </a:rPr>
              <a:t> Cycle Detection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4620" y="4371612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</p:txBody>
      </p:sp>
      <p:sp>
        <p:nvSpPr>
          <p:cNvPr id="8" name="Oval 7"/>
          <p:cNvSpPr/>
          <p:nvPr/>
        </p:nvSpPr>
        <p:spPr>
          <a:xfrm>
            <a:off x="2811390" y="1593527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9" name="Oval 8"/>
          <p:cNvSpPr/>
          <p:nvPr/>
        </p:nvSpPr>
        <p:spPr>
          <a:xfrm>
            <a:off x="1517115" y="1615637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10" name="Oval 9"/>
          <p:cNvSpPr/>
          <p:nvPr/>
        </p:nvSpPr>
        <p:spPr>
          <a:xfrm>
            <a:off x="275502" y="2637390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541457" y="365076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13" name="Straight Connector 12"/>
          <p:cNvCxnSpPr>
            <a:endCxn id="8" idx="3"/>
          </p:cNvCxnSpPr>
          <p:nvPr/>
        </p:nvCxnSpPr>
        <p:spPr>
          <a:xfrm flipV="1">
            <a:off x="1943147" y="2008713"/>
            <a:ext cx="949267" cy="171525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0" idx="7"/>
            <a:endCxn id="9" idx="3"/>
          </p:cNvCxnSpPr>
          <p:nvPr/>
        </p:nvCxnSpPr>
        <p:spPr>
          <a:xfrm flipV="1">
            <a:off x="665784" y="1993079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5"/>
            <a:endCxn id="11" idx="1"/>
          </p:cNvCxnSpPr>
          <p:nvPr/>
        </p:nvCxnSpPr>
        <p:spPr>
          <a:xfrm>
            <a:off x="665784" y="3014832"/>
            <a:ext cx="942635" cy="70069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42748" y="1662600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6717" y="3259439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5080" y="2026691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49510" y="2410471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6248" y="2262874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25721" y="1239448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83702" y="1227195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53436" y="4018037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rc 25"/>
          <p:cNvSpPr/>
          <p:nvPr/>
        </p:nvSpPr>
        <p:spPr>
          <a:xfrm>
            <a:off x="1975996" y="1627687"/>
            <a:ext cx="81628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rc 26"/>
          <p:cNvSpPr/>
          <p:nvPr/>
        </p:nvSpPr>
        <p:spPr>
          <a:xfrm rot="10800000">
            <a:off x="1970799" y="1707143"/>
            <a:ext cx="81628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79818" y="1230112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Connector 33"/>
          <p:cNvCxnSpPr>
            <a:endCxn id="11" idx="0"/>
          </p:cNvCxnSpPr>
          <p:nvPr/>
        </p:nvCxnSpPr>
        <p:spPr>
          <a:xfrm flipH="1">
            <a:off x="1770079" y="2077592"/>
            <a:ext cx="10162" cy="1573176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73344" y="2519947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414403" y="4367490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525328" y="1223073"/>
            <a:ext cx="3089153" cy="3252507"/>
            <a:chOff x="3525328" y="1223073"/>
            <a:chExt cx="3089153" cy="3252507"/>
          </a:xfrm>
        </p:grpSpPr>
        <p:sp>
          <p:nvSpPr>
            <p:cNvPr id="28" name="Oval 27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4766941" y="1611515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>
              <a:endCxn id="28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30" idx="7"/>
              <a:endCxn id="29" idx="3"/>
            </p:cNvCxnSpPr>
            <p:nvPr/>
          </p:nvCxnSpPr>
          <p:spPr>
            <a:xfrm flipV="1">
              <a:off x="3915610" y="1988957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30" idx="5"/>
              <a:endCxn id="31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Arc 46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Arc 47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Straight Connector 49"/>
            <p:cNvCxnSpPr>
              <a:endCxn id="31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333904" y="6083643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process edges in the order: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6831" y="5651155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changes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=-1 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660999" y="4313940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2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7771924" y="1169523"/>
            <a:ext cx="3089153" cy="3252507"/>
            <a:chOff x="3525328" y="1223073"/>
            <a:chExt cx="3089153" cy="3252507"/>
          </a:xfrm>
        </p:grpSpPr>
        <p:sp>
          <p:nvSpPr>
            <p:cNvPr id="56" name="Oval 55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4766941" y="1611515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Oval 57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" name="Straight Connector 59"/>
            <p:cNvCxnSpPr>
              <a:endCxn id="56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58" idx="7"/>
              <a:endCxn id="57" idx="3"/>
            </p:cNvCxnSpPr>
            <p:nvPr/>
          </p:nvCxnSpPr>
          <p:spPr>
            <a:xfrm flipV="1">
              <a:off x="3915610" y="1988957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58" idx="5"/>
              <a:endCxn id="59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Arc 70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Arc 71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4" name="Straight Connector 73"/>
            <p:cNvCxnSpPr>
              <a:endCxn id="59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158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74141" y="365125"/>
            <a:ext cx="12060193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Bellman-Ford Algorithm:</a:t>
            </a:r>
            <a:r>
              <a:rPr lang="en-US" sz="4000" b="1" dirty="0" smtClean="0">
                <a:solidFill>
                  <a:srgbClr val="FF0000"/>
                </a:solidFill>
              </a:rPr>
              <a:t> Cycle Detection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61603" y="4367490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72528" y="1223073"/>
            <a:ext cx="3089153" cy="3252507"/>
            <a:chOff x="3525328" y="1223073"/>
            <a:chExt cx="3089153" cy="3252507"/>
          </a:xfrm>
        </p:grpSpPr>
        <p:sp>
          <p:nvSpPr>
            <p:cNvPr id="28" name="Oval 27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4766941" y="1611515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>
              <a:endCxn id="28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30" idx="7"/>
              <a:endCxn id="29" idx="3"/>
            </p:cNvCxnSpPr>
            <p:nvPr/>
          </p:nvCxnSpPr>
          <p:spPr>
            <a:xfrm flipV="1">
              <a:off x="3915610" y="1988957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30" idx="5"/>
              <a:endCxn id="31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Arc 46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Arc 47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Straight Connector 49"/>
            <p:cNvCxnSpPr>
              <a:endCxn id="31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333904" y="6083643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process edges in the order: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6831" y="5651155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changes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=-4 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=-2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237276" y="4313940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2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3348201" y="1169523"/>
            <a:ext cx="3089153" cy="3252507"/>
            <a:chOff x="3525328" y="1223073"/>
            <a:chExt cx="3089153" cy="3252507"/>
          </a:xfrm>
        </p:grpSpPr>
        <p:sp>
          <p:nvSpPr>
            <p:cNvPr id="56" name="Oval 55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4766941" y="1611515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Oval 57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" name="Straight Connector 59"/>
            <p:cNvCxnSpPr>
              <a:endCxn id="56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58" idx="7"/>
              <a:endCxn id="57" idx="3"/>
            </p:cNvCxnSpPr>
            <p:nvPr/>
          </p:nvCxnSpPr>
          <p:spPr>
            <a:xfrm flipV="1">
              <a:off x="3915610" y="1988957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58" idx="5"/>
              <a:endCxn id="59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Arc 70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Arc 71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4" name="Straight Connector 73"/>
            <p:cNvCxnSpPr>
              <a:endCxn id="59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6" name="Rectangle 75"/>
          <p:cNvSpPr/>
          <p:nvPr/>
        </p:nvSpPr>
        <p:spPr>
          <a:xfrm>
            <a:off x="7404720" y="4309818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3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6515645" y="1165401"/>
            <a:ext cx="3089153" cy="3252507"/>
            <a:chOff x="3525328" y="1223073"/>
            <a:chExt cx="3089153" cy="3252507"/>
          </a:xfrm>
        </p:grpSpPr>
        <p:sp>
          <p:nvSpPr>
            <p:cNvPr id="78" name="Oval 77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4718931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2" name="Straight Connector 81"/>
            <p:cNvCxnSpPr>
              <a:endCxn id="78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80" idx="7"/>
              <a:endCxn id="79" idx="3"/>
            </p:cNvCxnSpPr>
            <p:nvPr/>
          </p:nvCxnSpPr>
          <p:spPr>
            <a:xfrm flipV="1">
              <a:off x="3915610" y="2004591"/>
              <a:ext cx="884345" cy="69343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80" idx="5"/>
              <a:endCxn id="81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Arc 92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Arc 93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6" name="Straight Connector 95"/>
            <p:cNvCxnSpPr>
              <a:endCxn id="81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496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74141" y="365125"/>
            <a:ext cx="12060193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Bellman-Ford Algorithm:</a:t>
            </a:r>
            <a:r>
              <a:rPr lang="en-US" sz="4000" b="1" dirty="0" smtClean="0">
                <a:solidFill>
                  <a:srgbClr val="FF0000"/>
                </a:solidFill>
              </a:rPr>
              <a:t> Cycle Detection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61603" y="4367490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72528" y="1223073"/>
            <a:ext cx="3089153" cy="3252507"/>
            <a:chOff x="3525328" y="1223073"/>
            <a:chExt cx="3089153" cy="3252507"/>
          </a:xfrm>
        </p:grpSpPr>
        <p:sp>
          <p:nvSpPr>
            <p:cNvPr id="28" name="Oval 27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4766941" y="1611515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>
              <a:endCxn id="28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30" idx="7"/>
              <a:endCxn id="29" idx="3"/>
            </p:cNvCxnSpPr>
            <p:nvPr/>
          </p:nvCxnSpPr>
          <p:spPr>
            <a:xfrm flipV="1">
              <a:off x="3915610" y="1988957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30" idx="5"/>
              <a:endCxn id="31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Arc 46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Arc 47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Straight Connector 49"/>
            <p:cNvCxnSpPr>
              <a:endCxn id="31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333904" y="6083643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process edges in the order: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6831" y="5651155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changes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=-4 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=-2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237276" y="4313940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2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3348201" y="1169523"/>
            <a:ext cx="3089153" cy="3252507"/>
            <a:chOff x="3525328" y="1223073"/>
            <a:chExt cx="3089153" cy="3252507"/>
          </a:xfrm>
        </p:grpSpPr>
        <p:sp>
          <p:nvSpPr>
            <p:cNvPr id="56" name="Oval 55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4766941" y="1611515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Oval 57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" name="Straight Connector 59"/>
            <p:cNvCxnSpPr>
              <a:endCxn id="56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58" idx="7"/>
              <a:endCxn id="57" idx="3"/>
            </p:cNvCxnSpPr>
            <p:nvPr/>
          </p:nvCxnSpPr>
          <p:spPr>
            <a:xfrm flipV="1">
              <a:off x="3915610" y="1988957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58" idx="5"/>
              <a:endCxn id="59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Arc 70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Arc 71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4" name="Straight Connector 73"/>
            <p:cNvCxnSpPr>
              <a:endCxn id="59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6" name="Rectangle 75"/>
          <p:cNvSpPr/>
          <p:nvPr/>
        </p:nvSpPr>
        <p:spPr>
          <a:xfrm>
            <a:off x="7404720" y="4309818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5163" y="2606386"/>
            <a:ext cx="25804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7030A0"/>
                </a:solidFill>
              </a:rPr>
              <a:t>Main iterations are completed!</a:t>
            </a:r>
            <a:endParaRPr lang="en-US" sz="2800" dirty="0">
              <a:solidFill>
                <a:srgbClr val="7030A0"/>
              </a:solidFill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6515645" y="1165401"/>
            <a:ext cx="3089153" cy="3252507"/>
            <a:chOff x="3525328" y="1223073"/>
            <a:chExt cx="3089153" cy="3252507"/>
          </a:xfrm>
        </p:grpSpPr>
        <p:sp>
          <p:nvSpPr>
            <p:cNvPr id="99" name="Oval 98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Oval 99"/>
            <p:cNvSpPr/>
            <p:nvPr/>
          </p:nvSpPr>
          <p:spPr>
            <a:xfrm>
              <a:off x="4718931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Oval 100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Oval 101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3" name="Straight Connector 102"/>
            <p:cNvCxnSpPr>
              <a:endCxn id="99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101" idx="7"/>
              <a:endCxn id="100" idx="3"/>
            </p:cNvCxnSpPr>
            <p:nvPr/>
          </p:nvCxnSpPr>
          <p:spPr>
            <a:xfrm flipV="1">
              <a:off x="3915610" y="2004591"/>
              <a:ext cx="884345" cy="69343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101" idx="5"/>
              <a:endCxn id="102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Arc 113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Arc 114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7" name="Straight Connector 116"/>
            <p:cNvCxnSpPr>
              <a:endCxn id="102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432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74141" y="365125"/>
            <a:ext cx="12060193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Bellman-Ford Algorithm:</a:t>
            </a:r>
            <a:r>
              <a:rPr lang="en-US" sz="4000" b="1" dirty="0" smtClean="0">
                <a:solidFill>
                  <a:srgbClr val="FF0000"/>
                </a:solidFill>
              </a:rPr>
              <a:t> Cycle Detection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33904" y="6083643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process edges in the order: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730730" y="4309818"/>
            <a:ext cx="24841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 Iteration for Cycle Detection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6515645" y="1165401"/>
            <a:ext cx="3089153" cy="3252507"/>
            <a:chOff x="3525328" y="1223073"/>
            <a:chExt cx="3089153" cy="3252507"/>
          </a:xfrm>
        </p:grpSpPr>
        <p:sp>
          <p:nvSpPr>
            <p:cNvPr id="78" name="Oval 77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-7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4718931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2" name="Straight Connector 81"/>
            <p:cNvCxnSpPr>
              <a:endCxn id="78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80" idx="7"/>
              <a:endCxn id="79" idx="3"/>
            </p:cNvCxnSpPr>
            <p:nvPr/>
          </p:nvCxnSpPr>
          <p:spPr>
            <a:xfrm flipV="1">
              <a:off x="3915610" y="2004591"/>
              <a:ext cx="884345" cy="69343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80" idx="5"/>
              <a:endCxn id="81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Arc 92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Arc 93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6" name="Straight Connector 95"/>
            <p:cNvCxnSpPr>
              <a:endCxn id="81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9495163" y="2606386"/>
            <a:ext cx="25804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7030A0"/>
                </a:solidFill>
              </a:rPr>
              <a:t>Cycle Detection iteration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96831" y="5651155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changes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=-7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1988358" y="4462218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3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099283" y="1317801"/>
            <a:ext cx="3089153" cy="3252507"/>
            <a:chOff x="3525328" y="1223073"/>
            <a:chExt cx="3089153" cy="3252507"/>
          </a:xfrm>
        </p:grpSpPr>
        <p:sp>
          <p:nvSpPr>
            <p:cNvPr id="51" name="Oval 50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4718931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6" name="Straight Connector 55"/>
            <p:cNvCxnSpPr>
              <a:endCxn id="51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54" idx="7"/>
              <a:endCxn id="53" idx="3"/>
            </p:cNvCxnSpPr>
            <p:nvPr/>
          </p:nvCxnSpPr>
          <p:spPr>
            <a:xfrm flipV="1">
              <a:off x="3915610" y="2004591"/>
              <a:ext cx="884345" cy="69343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54" idx="5"/>
              <a:endCxn id="55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Arc 66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Arc 67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0" name="Straight Connector 69"/>
            <p:cNvCxnSpPr>
              <a:endCxn id="55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048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74141" y="365125"/>
            <a:ext cx="12060193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Bellman-Ford Algorithm:</a:t>
            </a:r>
            <a:r>
              <a:rPr lang="en-US" sz="4000" b="1" dirty="0" smtClean="0">
                <a:solidFill>
                  <a:srgbClr val="FF0000"/>
                </a:solidFill>
              </a:rPr>
              <a:t> Cycle Detection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33904" y="6083643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process edges in the order: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t, 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730730" y="4309818"/>
            <a:ext cx="24841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 Iteration for Cycle Detection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6515645" y="1165401"/>
            <a:ext cx="3089153" cy="3252507"/>
            <a:chOff x="3525328" y="1223073"/>
            <a:chExt cx="3089153" cy="3252507"/>
          </a:xfrm>
        </p:grpSpPr>
        <p:sp>
          <p:nvSpPr>
            <p:cNvPr id="78" name="Oval 77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-7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4718931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2" name="Straight Connector 81"/>
            <p:cNvCxnSpPr>
              <a:endCxn id="78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80" idx="7"/>
              <a:endCxn id="79" idx="3"/>
            </p:cNvCxnSpPr>
            <p:nvPr/>
          </p:nvCxnSpPr>
          <p:spPr>
            <a:xfrm flipV="1">
              <a:off x="3915610" y="2004591"/>
              <a:ext cx="884345" cy="69343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80" idx="5"/>
              <a:endCxn id="81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Arc 92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Arc 93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6" name="Straight Connector 95"/>
            <p:cNvCxnSpPr>
              <a:endCxn id="81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9587278" y="2870002"/>
            <a:ext cx="213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7030A0"/>
                </a:solidFill>
              </a:rPr>
              <a:t>Detected!!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96831" y="5651155"/>
            <a:ext cx="112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changes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x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=-7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1988358" y="4462218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3</a:t>
            </a:r>
          </a:p>
        </p:txBody>
      </p:sp>
      <p:grpSp>
        <p:nvGrpSpPr>
          <p:cNvPr id="100" name="Group 99"/>
          <p:cNvGrpSpPr/>
          <p:nvPr/>
        </p:nvGrpSpPr>
        <p:grpSpPr>
          <a:xfrm>
            <a:off x="1099283" y="1317801"/>
            <a:ext cx="3089153" cy="3252507"/>
            <a:chOff x="3525328" y="1223073"/>
            <a:chExt cx="3089153" cy="3252507"/>
          </a:xfrm>
        </p:grpSpPr>
        <p:sp>
          <p:nvSpPr>
            <p:cNvPr id="101" name="Oval 100"/>
            <p:cNvSpPr/>
            <p:nvPr/>
          </p:nvSpPr>
          <p:spPr>
            <a:xfrm>
              <a:off x="6061216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Oval 101"/>
            <p:cNvSpPr/>
            <p:nvPr/>
          </p:nvSpPr>
          <p:spPr>
            <a:xfrm>
              <a:off x="4718931" y="1589405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Oval 102"/>
            <p:cNvSpPr/>
            <p:nvPr/>
          </p:nvSpPr>
          <p:spPr>
            <a:xfrm>
              <a:off x="3525328" y="263326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Oval 103"/>
            <p:cNvSpPr/>
            <p:nvPr/>
          </p:nvSpPr>
          <p:spPr>
            <a:xfrm>
              <a:off x="4791283" y="3646646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5" name="Straight Connector 104"/>
            <p:cNvCxnSpPr>
              <a:endCxn id="101" idx="3"/>
            </p:cNvCxnSpPr>
            <p:nvPr/>
          </p:nvCxnSpPr>
          <p:spPr>
            <a:xfrm flipV="1">
              <a:off x="5192973" y="2004591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>
              <a:stCxn id="103" idx="7"/>
              <a:endCxn id="102" idx="3"/>
            </p:cNvCxnSpPr>
            <p:nvPr/>
          </p:nvCxnSpPr>
          <p:spPr>
            <a:xfrm flipV="1">
              <a:off x="3915610" y="2004591"/>
              <a:ext cx="884345" cy="69343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103" idx="5"/>
              <a:endCxn id="104" idx="1"/>
            </p:cNvCxnSpPr>
            <p:nvPr/>
          </p:nvCxnSpPr>
          <p:spPr>
            <a:xfrm>
              <a:off x="3915610" y="3010710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/>
            <p:cNvSpPr txBox="1"/>
            <p:nvPr/>
          </p:nvSpPr>
          <p:spPr>
            <a:xfrm>
              <a:off x="5392574" y="165847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126543" y="325531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124906" y="2022569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5799336" y="240634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3616074" y="2258752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4875547" y="1235326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233528" y="1223073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4903262" y="40139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Arc 115"/>
            <p:cNvSpPr/>
            <p:nvPr/>
          </p:nvSpPr>
          <p:spPr>
            <a:xfrm>
              <a:off x="5225822" y="1623565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Arc 116"/>
            <p:cNvSpPr/>
            <p:nvPr/>
          </p:nvSpPr>
          <p:spPr>
            <a:xfrm rot="10800000">
              <a:off x="5220625" y="1703021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5429644" y="12259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9" name="Straight Connector 118"/>
            <p:cNvCxnSpPr>
              <a:endCxn id="104" idx="0"/>
            </p:cNvCxnSpPr>
            <p:nvPr/>
          </p:nvCxnSpPr>
          <p:spPr>
            <a:xfrm flipH="1">
              <a:off x="5019905" y="2073470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/>
            <p:cNvSpPr txBox="1"/>
            <p:nvPr/>
          </p:nvSpPr>
          <p:spPr>
            <a:xfrm>
              <a:off x="4523170" y="2515825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509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329335" y="4614585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2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151938" y="1470168"/>
            <a:ext cx="3130891" cy="3252507"/>
            <a:chOff x="786240" y="774115"/>
            <a:chExt cx="3130891" cy="3252507"/>
          </a:xfrm>
        </p:grpSpPr>
        <p:sp>
          <p:nvSpPr>
            <p:cNvPr id="73" name="Oval 72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Oval 75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Oval 76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Straight Connector 77"/>
            <p:cNvCxnSpPr>
              <a:endCxn id="73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75" idx="7"/>
              <a:endCxn id="74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75" idx="5"/>
              <a:endCxn id="76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Arc 90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Arc 91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4" name="Straight Connector 93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6" name="Straight Connector 95"/>
            <p:cNvCxnSpPr>
              <a:endCxn id="75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8" name="Straight Connector 97"/>
            <p:cNvCxnSpPr>
              <a:stCxn id="77" idx="0"/>
              <a:endCxn id="73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endCxn id="76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1" name="Straight Connector 100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4603873" y="4544561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3</a:t>
            </a:r>
          </a:p>
        </p:txBody>
      </p:sp>
      <p:grpSp>
        <p:nvGrpSpPr>
          <p:cNvPr id="104" name="Group 103"/>
          <p:cNvGrpSpPr/>
          <p:nvPr/>
        </p:nvGrpSpPr>
        <p:grpSpPr>
          <a:xfrm>
            <a:off x="3294668" y="1400144"/>
            <a:ext cx="3130891" cy="3252507"/>
            <a:chOff x="786240" y="774115"/>
            <a:chExt cx="3130891" cy="3252507"/>
          </a:xfrm>
        </p:grpSpPr>
        <p:sp>
          <p:nvSpPr>
            <p:cNvPr id="105" name="Oval 104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Oval 105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Oval 106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Oval 107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Oval 108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0" name="Straight Connector 109"/>
            <p:cNvCxnSpPr>
              <a:endCxn id="105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>
              <a:stCxn id="107" idx="7"/>
              <a:endCxn id="106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>
              <a:stCxn id="107" idx="5"/>
              <a:endCxn id="108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Arc 122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Arc 123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8" name="Straight Connector 127"/>
            <p:cNvCxnSpPr>
              <a:endCxn id="107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0" name="Straight Connector 129"/>
            <p:cNvCxnSpPr>
              <a:stCxn id="109" idx="0"/>
              <a:endCxn id="105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endCxn id="108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3" name="Straight Connector 132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5" name="Rectangle 134"/>
          <p:cNvSpPr/>
          <p:nvPr/>
        </p:nvSpPr>
        <p:spPr>
          <a:xfrm>
            <a:off x="7903121" y="4565153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4</a:t>
            </a:r>
          </a:p>
        </p:txBody>
      </p:sp>
      <p:grpSp>
        <p:nvGrpSpPr>
          <p:cNvPr id="136" name="Group 135"/>
          <p:cNvGrpSpPr/>
          <p:nvPr/>
        </p:nvGrpSpPr>
        <p:grpSpPr>
          <a:xfrm>
            <a:off x="6445635" y="1420736"/>
            <a:ext cx="3130891" cy="3252507"/>
            <a:chOff x="786240" y="774115"/>
            <a:chExt cx="3130891" cy="3252507"/>
          </a:xfrm>
        </p:grpSpPr>
        <p:sp>
          <p:nvSpPr>
            <p:cNvPr id="137" name="Oval 136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Oval 137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Oval 138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Oval 139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Oval 140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2" name="Straight Connector 141"/>
            <p:cNvCxnSpPr>
              <a:endCxn id="137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>
              <a:stCxn id="139" idx="7"/>
              <a:endCxn id="138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>
              <a:stCxn id="139" idx="5"/>
              <a:endCxn id="140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Arc 154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Arc 155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8" name="Straight Connector 157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0" name="Straight Connector 159"/>
            <p:cNvCxnSpPr>
              <a:endCxn id="139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160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2" name="Straight Connector 161"/>
            <p:cNvCxnSpPr>
              <a:stCxn id="141" idx="0"/>
              <a:endCxn id="137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>
              <a:endCxn id="140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5" name="Straight Connector 164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Box 165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9" name="Group 168"/>
          <p:cNvGrpSpPr/>
          <p:nvPr/>
        </p:nvGrpSpPr>
        <p:grpSpPr>
          <a:xfrm>
            <a:off x="9516353" y="1887609"/>
            <a:ext cx="2339925" cy="2910297"/>
            <a:chOff x="786240" y="774115"/>
            <a:chExt cx="3089153" cy="3252507"/>
          </a:xfrm>
        </p:grpSpPr>
        <p:sp>
          <p:nvSpPr>
            <p:cNvPr id="170" name="Oval 169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" name="Oval 170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Oval 171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Oval 172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Oval 173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5" name="Straight Connector 174"/>
            <p:cNvCxnSpPr>
              <a:endCxn id="170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>
              <a:stCxn id="172" idx="5"/>
              <a:endCxn id="173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Arc 188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8" name="Straight Connector 197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TextBox 198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0" name="Rectangle 199"/>
          <p:cNvSpPr/>
          <p:nvPr/>
        </p:nvSpPr>
        <p:spPr>
          <a:xfrm>
            <a:off x="10180719" y="4944056"/>
            <a:ext cx="18821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Paths tree</a:t>
            </a:r>
          </a:p>
        </p:txBody>
      </p:sp>
    </p:spTree>
    <p:extLst>
      <p:ext uri="{BB962C8B-B14F-4D97-AF65-F5344CB8AC3E}">
        <p14:creationId xmlns:p14="http://schemas.microsoft.com/office/powerpoint/2010/main" val="79539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/>
              <p:cNvSpPr txBox="1"/>
              <p:nvPr/>
            </p:nvSpPr>
            <p:spPr>
              <a:xfrm>
                <a:off x="241625" y="1343863"/>
                <a:ext cx="1178818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Lemma 24.2</a:t>
                </a:r>
              </a:p>
              <a:p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first |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|-1 relaxation iterations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algorithm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 weighted, directed graph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with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vertices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reachable from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343863"/>
                <a:ext cx="11788188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28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09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Lemma 24.2</a:t>
                </a:r>
              </a:p>
              <a:p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first |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|-1 relaxation iterations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algorithm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 weighted, directed graph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with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negative-weight cycle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vertices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reachable from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82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09467" y="2586833"/>
            <a:ext cx="117881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Lemma 24.2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&lt;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. .,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is a shortest path from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i="1" baseline="-250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i="1" baseline="-25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simple path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at most |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|-1 edges</a:t>
            </a:r>
          </a:p>
        </p:txBody>
      </p:sp>
      <p:sp>
        <p:nvSpPr>
          <p:cNvPr id="5" name="Oval 4"/>
          <p:cNvSpPr/>
          <p:nvPr/>
        </p:nvSpPr>
        <p:spPr>
          <a:xfrm>
            <a:off x="1598750" y="56113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3036256" y="5598969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57543" y="5599996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913442" y="561054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9105" y="5188799"/>
            <a:ext cx="948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s=v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65092" y="5042797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30402" y="5108330"/>
            <a:ext cx="1043235" cy="53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v=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947413" y="5825104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22792" y="560102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37549" y="5040921"/>
            <a:ext cx="71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3395213" y="5825104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79567" y="5061847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857718" y="5609521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795388" y="5834629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79742" y="507137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843388" y="5834629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6208121" y="5729419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588617" y="4462943"/>
            <a:ext cx="1753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&lt;=|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|-1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15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Lemma 24.2</a:t>
                </a:r>
              </a:p>
              <a:p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first |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|-1 relaxation iterations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algorithm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 weighted, directed graph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with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negative-weight cycle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vertices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reachable from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82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09467" y="2586833"/>
            <a:ext cx="1178818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Lemma 24.2</a:t>
            </a:r>
          </a:p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relaxes all edges |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|-1 times</a:t>
            </a:r>
            <a:endParaRPr lang="en-US" sz="2400" i="1" baseline="-250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i="1" baseline="-250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edge (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relaxed at iteration 1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edge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relaxed at iteration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(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relaxed at iteration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598750" y="56113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3036256" y="5598969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57543" y="5599996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913442" y="561054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9105" y="5188799"/>
            <a:ext cx="948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s=v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65092" y="5042797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30402" y="5108330"/>
            <a:ext cx="1043235" cy="53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v=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947413" y="5825104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22792" y="560102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37549" y="5040921"/>
            <a:ext cx="71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3395213" y="5825104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79567" y="5061847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857718" y="5609521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795388" y="5834629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79742" y="507137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843388" y="5834629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6208121" y="5729419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588617" y="4462943"/>
            <a:ext cx="1753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&lt;=|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|-1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727768" y="5957736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166043" y="5976786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613843" y="5938686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50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Lemma 24.2</a:t>
                </a:r>
              </a:p>
              <a:p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first |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|-1 relaxation iterations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algorithm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 weighted, directed graph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with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negative-weight cycle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vertices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reachable from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82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09467" y="2586833"/>
            <a:ext cx="117881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Lemma 24.2</a:t>
            </a:r>
          </a:p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relaxes all edges |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|-1 times</a:t>
            </a:r>
            <a:endParaRPr lang="en-US" sz="2400" i="1" baseline="-250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i="1" baseline="-250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edge (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relaxed at iteration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to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" name="Oval 4"/>
          <p:cNvSpPr/>
          <p:nvPr/>
        </p:nvSpPr>
        <p:spPr>
          <a:xfrm>
            <a:off x="1598750" y="56113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3036256" y="5598969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57543" y="5599996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913442" y="561054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9105" y="5188799"/>
            <a:ext cx="948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s=v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65092" y="5042797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30402" y="5108330"/>
            <a:ext cx="1043235" cy="53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v=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947413" y="5825104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22792" y="560102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37549" y="5040921"/>
            <a:ext cx="71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3395213" y="5825104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79567" y="5061847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857718" y="5609521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795388" y="5834629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79742" y="507137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843388" y="5834629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6208121" y="5729419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588617" y="4462943"/>
            <a:ext cx="1753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&lt;=|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|-1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727768" y="5957736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166043" y="5976786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613843" y="5938686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51391" y="5914917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4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Lemma 24.2</a:t>
                </a:r>
              </a:p>
              <a:p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first |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|-1 relaxation iterations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algorithm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 weighted, directed graph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with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negative-weight cycle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vertices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reachable from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82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9467" y="2586833"/>
                <a:ext cx="11788188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Lemma 24.2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 relaxation property says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i="1" baseline="-250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i="1" baseline="-250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67" y="2586833"/>
                <a:ext cx="11788188" cy="1077218"/>
              </a:xfrm>
              <a:prstGeom prst="rect">
                <a:avLst/>
              </a:prstGeom>
              <a:blipFill rotWithShape="0">
                <a:blip r:embed="rId3"/>
                <a:stretch>
                  <a:fillRect l="-776" t="-4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1598750" y="56113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3036256" y="5598969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57543" y="5599996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913442" y="561054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9105" y="5188799"/>
            <a:ext cx="948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s=v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65092" y="5042797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30402" y="5108330"/>
            <a:ext cx="1043235" cy="53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v=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947413" y="5825104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22792" y="560102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37549" y="5040921"/>
            <a:ext cx="71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3395213" y="5825104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79567" y="5061847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857718" y="5609521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795388" y="5834629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79742" y="507137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843388" y="5834629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6208121" y="5729419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588617" y="4462943"/>
            <a:ext cx="1753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&lt;=|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|-1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727768" y="5957736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166043" y="5976786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613843" y="5938686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51391" y="5914917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7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Corollary 24.3</a:t>
                </a: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weighted, directed graph with no 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vertices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reachable from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for each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is a path from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and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BELLMAN-FORD terminates </a:t>
                </a:r>
                <a:r>
                  <a:rPr lang="en-US" sz="2400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:r>
                  <a:rPr lang="en-US" sz="2400" i="1" dirty="0" err="1" smtClean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v.d</a:t>
                </a:r>
                <a:r>
                  <a:rPr lang="en-US" sz="2400" i="1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&lt;∞</a:t>
                </a:r>
                <a:r>
                  <a:rPr lang="en-US" sz="2400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run on G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2308324"/>
              </a:xfrm>
              <a:prstGeom prst="rect">
                <a:avLst/>
              </a:prstGeom>
              <a:blipFill rotWithShape="0">
                <a:blip r:embed="rId2"/>
                <a:stretch>
                  <a:fillRect l="-828" t="-2111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91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Corollary 24.3</a:t>
                </a: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weighted, directed graph with no 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vertices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reachable from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for each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is a path from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and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BELLMAN-FORD terminates </a:t>
                </a:r>
                <a:r>
                  <a:rPr lang="en-US" sz="2400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:r>
                  <a:rPr lang="en-US" sz="2400" i="1" dirty="0" err="1" smtClean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v.d</a:t>
                </a:r>
                <a:r>
                  <a:rPr lang="en-US" sz="2400" i="1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&lt;∞</a:t>
                </a:r>
                <a:r>
                  <a:rPr lang="en-US" sz="2400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run on G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shorten the statement as follows		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P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and only if </a:t>
                </a:r>
                <a:r>
                  <a:rPr lang="en-US" sz="2400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  <a:p>
                <a:r>
                  <a:rPr lang="en-US" sz="2400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</a:t>
                </a: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 = there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path from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</a:p>
              <a:p>
                <a:r>
                  <a:rPr lang="en-US" sz="2400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 = BELLMAN-FORD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terminates with </a:t>
                </a:r>
                <a:r>
                  <a:rPr lang="en-US" sz="2400" i="1" dirty="0" err="1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v.d</a:t>
                </a:r>
                <a:r>
                  <a:rPr lang="en-US" sz="2400" i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&lt;∞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it is run on </a:t>
                </a:r>
                <a:r>
                  <a:rPr lang="en-US" sz="2400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endParaRPr lang="en-US" sz="240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4524315"/>
              </a:xfrm>
              <a:prstGeom prst="rect">
                <a:avLst/>
              </a:prstGeom>
              <a:blipFill rotWithShape="0">
                <a:blip r:embed="rId2"/>
                <a:stretch>
                  <a:fillRect l="-828" t="-1078" r="-724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42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Corollary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24.3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P,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where,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 = there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path from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= BELLMAN-FORD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terminates with </a:t>
            </a:r>
            <a:r>
              <a:rPr lang="en-US" sz="2400" i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400" i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&lt;∞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it is run on 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2400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86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Corollary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24.3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P,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  <a:p>
            <a:endParaRPr lang="en-US" sz="2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there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path from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v, there is a shortest too.  =&gt;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s,v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finite</a:t>
            </a:r>
            <a:endParaRPr lang="en-US" sz="2400" i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5878004" y="3517735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Oval 10"/>
          <p:cNvSpPr>
            <a:spLocks noChangeArrowheads="1"/>
          </p:cNvSpPr>
          <p:nvPr/>
        </p:nvSpPr>
        <p:spPr bwMode="auto">
          <a:xfrm>
            <a:off x="9992804" y="5041735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10248778" y="5202373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 dirty="0" smtClean="0">
                <a:latin typeface="Times New Roman" panose="02020603050405020304" pitchFamily="18" charset="0"/>
              </a:rPr>
              <a:t>v</a:t>
            </a:r>
            <a:endParaRPr lang="en-US" altLang="en-US" sz="2000" b="1" i="1" dirty="0">
              <a:latin typeface="Times New Roman" panose="02020603050405020304" pitchFamily="18" charset="0"/>
            </a:endParaRPr>
          </a:p>
        </p:txBody>
      </p:sp>
      <p:cxnSp>
        <p:nvCxnSpPr>
          <p:cNvPr id="10" name="Curved Connector 9"/>
          <p:cNvCxnSpPr>
            <a:stCxn id="4" idx="6"/>
            <a:endCxn id="6" idx="2"/>
          </p:cNvCxnSpPr>
          <p:nvPr/>
        </p:nvCxnSpPr>
        <p:spPr>
          <a:xfrm>
            <a:off x="6640004" y="3898735"/>
            <a:ext cx="3352800" cy="15240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6108398" y="3690140"/>
            <a:ext cx="2840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 dirty="0" smtClean="0">
                <a:latin typeface="Times New Roman" panose="02020603050405020304" pitchFamily="18" charset="0"/>
              </a:rPr>
              <a:t>s</a:t>
            </a:r>
            <a:endParaRPr lang="en-US" altLang="en-US" sz="2000" b="1" i="1" dirty="0">
              <a:latin typeface="Times New Roman" panose="02020603050405020304" pitchFamily="18" charset="0"/>
            </a:endParaRPr>
          </a:p>
        </p:txBody>
      </p:sp>
      <p:cxnSp>
        <p:nvCxnSpPr>
          <p:cNvPr id="12" name="Curved Connector 11"/>
          <p:cNvCxnSpPr>
            <a:endCxn id="6" idx="3"/>
          </p:cNvCxnSpPr>
          <p:nvPr/>
        </p:nvCxnSpPr>
        <p:spPr>
          <a:xfrm>
            <a:off x="6265181" y="4306508"/>
            <a:ext cx="3839215" cy="1385635"/>
          </a:xfrm>
          <a:prstGeom prst="curvedConnector4">
            <a:avLst>
              <a:gd name="adj1" fmla="val -6169"/>
              <a:gd name="adj2" fmla="val 142062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endCxn id="6" idx="4"/>
          </p:cNvCxnSpPr>
          <p:nvPr/>
        </p:nvCxnSpPr>
        <p:spPr>
          <a:xfrm>
            <a:off x="5924816" y="4150047"/>
            <a:ext cx="4448988" cy="1653688"/>
          </a:xfrm>
          <a:prstGeom prst="curvedConnector4">
            <a:avLst>
              <a:gd name="adj1" fmla="val -6868"/>
              <a:gd name="adj2" fmla="val 138233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36725" y="4614737"/>
            <a:ext cx="22924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l-GR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s,v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finite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54767" y="3713748"/>
            <a:ext cx="16354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to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endParaRPr lang="en-US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02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Corollary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24.3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P,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  <a:p>
            <a:endParaRPr lang="en-US" sz="2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there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path from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v, there is a shortest too.  =&gt;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s,v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finite</a:t>
            </a:r>
            <a:endParaRPr lang="en-US" sz="2400" i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Lemma 24.2 tells that line 2-4 sets </a:t>
            </a:r>
            <a:r>
              <a:rPr lang="en-US" sz="24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s,v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&lt;∞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5878004" y="3517735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Oval 10"/>
          <p:cNvSpPr>
            <a:spLocks noChangeArrowheads="1"/>
          </p:cNvSpPr>
          <p:nvPr/>
        </p:nvSpPr>
        <p:spPr bwMode="auto">
          <a:xfrm>
            <a:off x="9992804" y="5041735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10248778" y="5202373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 dirty="0" smtClean="0">
                <a:latin typeface="Times New Roman" panose="02020603050405020304" pitchFamily="18" charset="0"/>
              </a:rPr>
              <a:t>v</a:t>
            </a:r>
            <a:endParaRPr lang="en-US" altLang="en-US" sz="2000" b="1" i="1" dirty="0">
              <a:latin typeface="Times New Roman" panose="02020603050405020304" pitchFamily="18" charset="0"/>
            </a:endParaRPr>
          </a:p>
        </p:txBody>
      </p:sp>
      <p:cxnSp>
        <p:nvCxnSpPr>
          <p:cNvPr id="10" name="Curved Connector 9"/>
          <p:cNvCxnSpPr>
            <a:stCxn id="4" idx="6"/>
            <a:endCxn id="6" idx="2"/>
          </p:cNvCxnSpPr>
          <p:nvPr/>
        </p:nvCxnSpPr>
        <p:spPr>
          <a:xfrm>
            <a:off x="6640004" y="3898735"/>
            <a:ext cx="3352800" cy="15240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6108398" y="3690140"/>
            <a:ext cx="2840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 dirty="0" smtClean="0">
                <a:latin typeface="Times New Roman" panose="02020603050405020304" pitchFamily="18" charset="0"/>
              </a:rPr>
              <a:t>s</a:t>
            </a:r>
            <a:endParaRPr lang="en-US" altLang="en-US" sz="2000" b="1" i="1" dirty="0">
              <a:latin typeface="Times New Roman" panose="02020603050405020304" pitchFamily="18" charset="0"/>
            </a:endParaRPr>
          </a:p>
        </p:txBody>
      </p:sp>
      <p:cxnSp>
        <p:nvCxnSpPr>
          <p:cNvPr id="12" name="Curved Connector 11"/>
          <p:cNvCxnSpPr>
            <a:endCxn id="6" idx="3"/>
          </p:cNvCxnSpPr>
          <p:nvPr/>
        </p:nvCxnSpPr>
        <p:spPr>
          <a:xfrm>
            <a:off x="6265181" y="4306508"/>
            <a:ext cx="3839215" cy="1385635"/>
          </a:xfrm>
          <a:prstGeom prst="curvedConnector4">
            <a:avLst>
              <a:gd name="adj1" fmla="val -6169"/>
              <a:gd name="adj2" fmla="val 142062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endCxn id="6" idx="4"/>
          </p:cNvCxnSpPr>
          <p:nvPr/>
        </p:nvCxnSpPr>
        <p:spPr>
          <a:xfrm>
            <a:off x="5924816" y="4150047"/>
            <a:ext cx="4448988" cy="1653688"/>
          </a:xfrm>
          <a:prstGeom prst="curvedConnector4">
            <a:avLst>
              <a:gd name="adj1" fmla="val -6868"/>
              <a:gd name="adj2" fmla="val 138233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36725" y="4614737"/>
            <a:ext cx="22924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l-GR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s,v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finite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54767" y="3713748"/>
            <a:ext cx="16354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to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endParaRPr lang="en-US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56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Corollary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24.3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P,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  <a:p>
            <a:endParaRPr lang="en-US" sz="2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there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path from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v, there is a shortest too.  =&gt;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s,v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finite</a:t>
            </a:r>
            <a:endParaRPr lang="en-US" sz="2400" i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Lemma 24.2 tells that line 2-4 sets </a:t>
            </a:r>
            <a:r>
              <a:rPr lang="en-US" sz="24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s,v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&lt;∞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US" sz="2400" i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&lt;∞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5878004" y="3517735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Oval 10"/>
          <p:cNvSpPr>
            <a:spLocks noChangeArrowheads="1"/>
          </p:cNvSpPr>
          <p:nvPr/>
        </p:nvSpPr>
        <p:spPr bwMode="auto">
          <a:xfrm>
            <a:off x="9992804" y="5041735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10248778" y="5202373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 dirty="0" smtClean="0">
                <a:latin typeface="Times New Roman" panose="02020603050405020304" pitchFamily="18" charset="0"/>
              </a:rPr>
              <a:t>v</a:t>
            </a:r>
            <a:endParaRPr lang="en-US" altLang="en-US" sz="2000" b="1" i="1" dirty="0">
              <a:latin typeface="Times New Roman" panose="02020603050405020304" pitchFamily="18" charset="0"/>
            </a:endParaRPr>
          </a:p>
        </p:txBody>
      </p:sp>
      <p:cxnSp>
        <p:nvCxnSpPr>
          <p:cNvPr id="10" name="Curved Connector 9"/>
          <p:cNvCxnSpPr>
            <a:stCxn id="4" idx="6"/>
            <a:endCxn id="6" idx="2"/>
          </p:cNvCxnSpPr>
          <p:nvPr/>
        </p:nvCxnSpPr>
        <p:spPr>
          <a:xfrm>
            <a:off x="6640004" y="3898735"/>
            <a:ext cx="3352800" cy="15240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6108398" y="3690140"/>
            <a:ext cx="2840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 dirty="0" smtClean="0">
                <a:latin typeface="Times New Roman" panose="02020603050405020304" pitchFamily="18" charset="0"/>
              </a:rPr>
              <a:t>s</a:t>
            </a:r>
            <a:endParaRPr lang="en-US" altLang="en-US" sz="2000" b="1" i="1" dirty="0">
              <a:latin typeface="Times New Roman" panose="02020603050405020304" pitchFamily="18" charset="0"/>
            </a:endParaRPr>
          </a:p>
        </p:txBody>
      </p:sp>
      <p:cxnSp>
        <p:nvCxnSpPr>
          <p:cNvPr id="12" name="Curved Connector 11"/>
          <p:cNvCxnSpPr>
            <a:endCxn id="6" idx="3"/>
          </p:cNvCxnSpPr>
          <p:nvPr/>
        </p:nvCxnSpPr>
        <p:spPr>
          <a:xfrm>
            <a:off x="6265181" y="4306508"/>
            <a:ext cx="3839215" cy="1385635"/>
          </a:xfrm>
          <a:prstGeom prst="curvedConnector4">
            <a:avLst>
              <a:gd name="adj1" fmla="val -6169"/>
              <a:gd name="adj2" fmla="val 142062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endCxn id="6" idx="4"/>
          </p:cNvCxnSpPr>
          <p:nvPr/>
        </p:nvCxnSpPr>
        <p:spPr>
          <a:xfrm>
            <a:off x="5924816" y="4150047"/>
            <a:ext cx="4448988" cy="1653688"/>
          </a:xfrm>
          <a:prstGeom prst="curvedConnector4">
            <a:avLst>
              <a:gd name="adj1" fmla="val -6868"/>
              <a:gd name="adj2" fmla="val 138233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36725" y="4614737"/>
            <a:ext cx="22924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l-GR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s,v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finite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54767" y="3713748"/>
            <a:ext cx="16354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to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endParaRPr lang="en-US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41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Corollary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24.3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where,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 = there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path from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= BELLMAN-FORD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terminates with </a:t>
            </a:r>
            <a:r>
              <a:rPr lang="en-US" sz="2400" i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400" i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&lt;∞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it is run on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78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62346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Corollary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24.3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Initially all </a:t>
            </a:r>
            <a:r>
              <a:rPr lang="en-US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gradually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set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r>
              <a:rPr lang="el-GR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relaxation if there is a path from 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335" y="2347475"/>
            <a:ext cx="529590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5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62346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Corollary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24.3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Initially all </a:t>
            </a:r>
            <a:r>
              <a:rPr lang="en-US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gradually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set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r>
              <a:rPr lang="el-GR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relaxation if there is a path from 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  <a:p>
            <a:endParaRPr lang="en-US" sz="2400" i="1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l-GR" sz="24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forms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it is shortest path tree rooted at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from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el-GR" sz="24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endParaRPr lang="en-US" sz="24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520724" y="3028513"/>
            <a:ext cx="2335554" cy="2910297"/>
            <a:chOff x="786240" y="774115"/>
            <a:chExt cx="3089153" cy="3252507"/>
          </a:xfrm>
        </p:grpSpPr>
        <p:sp>
          <p:nvSpPr>
            <p:cNvPr id="6" name="Oval 5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Arc 21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Rectangle 24"/>
          <p:cNvSpPr/>
          <p:nvPr/>
        </p:nvSpPr>
        <p:spPr>
          <a:xfrm>
            <a:off x="9589333" y="5841679"/>
            <a:ext cx="24734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l-GR" sz="24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11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62346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Corollary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24.3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Initially all </a:t>
            </a:r>
            <a:r>
              <a:rPr lang="en-US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gradually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set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r>
              <a:rPr lang="el-GR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relaxation if there is a path from 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  <a:p>
            <a:endParaRPr lang="en-US" sz="2400" i="1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l-GR" sz="24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forms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it is shortest path tree rooted at 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i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from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el-GR" sz="24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endParaRPr lang="en-US" sz="24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Edges of this path are also in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from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also.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520724" y="3028513"/>
            <a:ext cx="2335554" cy="2910297"/>
            <a:chOff x="786240" y="774115"/>
            <a:chExt cx="3089153" cy="3252507"/>
          </a:xfrm>
        </p:grpSpPr>
        <p:sp>
          <p:nvSpPr>
            <p:cNvPr id="6" name="Oval 5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Arc 21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Rectangle 24"/>
          <p:cNvSpPr/>
          <p:nvPr/>
        </p:nvSpPr>
        <p:spPr>
          <a:xfrm>
            <a:off x="9589333" y="5841679"/>
            <a:ext cx="24734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(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l-GR" sz="24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6231692" y="2720437"/>
            <a:ext cx="3130891" cy="3252507"/>
            <a:chOff x="786240" y="774115"/>
            <a:chExt cx="3130891" cy="3252507"/>
          </a:xfrm>
        </p:grpSpPr>
        <p:sp>
          <p:nvSpPr>
            <p:cNvPr id="27" name="Oval 26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32" name="Straight Connector 31"/>
            <p:cNvCxnSpPr>
              <a:endCxn id="27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29" idx="7"/>
              <a:endCxn id="28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9" idx="5"/>
              <a:endCxn id="30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Arc 44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Arc 45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Straight Connector 47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Straight Connector 49"/>
            <p:cNvCxnSpPr>
              <a:endCxn id="29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2" name="Straight Connector 51"/>
            <p:cNvCxnSpPr>
              <a:stCxn id="31" idx="0"/>
              <a:endCxn id="27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endCxn id="30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5" name="Straight Connector 54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Rectangle 56"/>
          <p:cNvSpPr/>
          <p:nvPr/>
        </p:nvSpPr>
        <p:spPr>
          <a:xfrm>
            <a:off x="7006919" y="5876633"/>
            <a:ext cx="24734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5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24.4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weighted, directed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graph.</a:t>
                </a: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If G has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b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returns true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(iii)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shortest path tree rooted as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G has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negative-weight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s,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returns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false</a:t>
                </a:r>
              </a:p>
            </p:txBody>
          </p:sp>
        </mc:Choice>
        <mc:Fallback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2677656"/>
              </a:xfrm>
              <a:prstGeom prst="rect">
                <a:avLst/>
              </a:prstGeom>
              <a:blipFill rotWithShape="0">
                <a:blip r:embed="rId2"/>
                <a:stretch>
                  <a:fillRect l="-828" t="-1822" r="-724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66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24.4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weighted, directed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graph.</a:t>
                </a:r>
              </a:p>
              <a:p>
                <a:pPr marL="457200" indent="-457200">
                  <a:buAutoNum type="alphaUcParenBoth"/>
                </a:pP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G has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b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returns true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(iii)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shortest path tree rooted as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A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From Lemma 24.2,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&lt;∞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reachable vertex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not reachable.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=∞=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A(ii) is proved.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3416320"/>
              </a:xfrm>
              <a:prstGeom prst="rect">
                <a:avLst/>
              </a:prstGeom>
              <a:blipFill rotWithShape="0">
                <a:blip r:embed="rId2"/>
                <a:stretch>
                  <a:fillRect l="-828" t="-1426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421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24.4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weighted, directed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graph.</a:t>
                </a:r>
              </a:p>
              <a:p>
                <a:pPr marL="457200" indent="-457200">
                  <a:buAutoNum type="alphaUcParenBoth"/>
                </a:pP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G has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b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returns true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(iii)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shortest path tree rooted as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A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(iii)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v.   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(ii)</a:t>
                </a:r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2677656"/>
              </a:xfrm>
              <a:prstGeom prst="rect">
                <a:avLst/>
              </a:prstGeom>
              <a:blipFill rotWithShape="0">
                <a:blip r:embed="rId2"/>
                <a:stretch>
                  <a:fillRect l="-82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18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24.4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weighted, directed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graph.</a:t>
                </a:r>
              </a:p>
              <a:p>
                <a:pPr marL="457200" indent="-457200">
                  <a:buAutoNum type="alphaUcParenBoth"/>
                </a:pP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G has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b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returns true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(iii)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shortest path tree rooted as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A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(iii)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v.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predecessor subgraph property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says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shortest path tree rooted as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4154984"/>
              </a:xfrm>
              <a:prstGeom prst="rect">
                <a:avLst/>
              </a:prstGeom>
              <a:blipFill rotWithShape="0">
                <a:blip r:embed="rId2"/>
                <a:stretch>
                  <a:fillRect l="-828" t="-1173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811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24.4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weighted, directed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graph.</a:t>
                </a:r>
              </a:p>
              <a:p>
                <a:pPr marL="457200" indent="-457200">
                  <a:buAutoNum type="alphaUcParenBoth"/>
                </a:pP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G has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b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returns true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(iii)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shortest path tree rooted as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A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Statement A(ii) says,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3046988"/>
              </a:xfrm>
              <a:prstGeom prst="rect">
                <a:avLst/>
              </a:prstGeom>
              <a:blipFill rotWithShape="0">
                <a:blip r:embed="rId2"/>
                <a:stretch>
                  <a:fillRect l="-828" t="-1600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215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24.4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weighted, directed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graph.</a:t>
                </a:r>
              </a:p>
              <a:p>
                <a:pPr marL="457200" indent="-457200">
                  <a:buAutoNum type="alphaUcParenBoth"/>
                </a:pP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G has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b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returns true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(iii)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shortest path tree rooted as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A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Statement A(ii)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says,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   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triangular inequality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by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Statement A(ii)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3785652"/>
              </a:xfrm>
              <a:prstGeom prst="rect">
                <a:avLst/>
              </a:prstGeom>
              <a:blipFill rotWithShape="0">
                <a:blip r:embed="rId2"/>
                <a:stretch>
                  <a:fillRect l="-828" t="-1288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811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24.4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weighted, directed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graph.</a:t>
                </a:r>
              </a:p>
              <a:p>
                <a:pPr marL="457200" indent="-457200">
                  <a:buAutoNum type="alphaUcParenBoth"/>
                </a:pP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G has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b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returns true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(iii)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shortest path tree rooted as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A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Statement A(ii)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says,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   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triangular inequality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by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Statement A(ii)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every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edge (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u, 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4154984"/>
              </a:xfrm>
              <a:prstGeom prst="rect">
                <a:avLst/>
              </a:prstGeom>
              <a:blipFill rotWithShape="0">
                <a:blip r:embed="rId2"/>
                <a:stretch>
                  <a:fillRect l="-828" t="-1173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95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24.4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weighted, directed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graph.</a:t>
                </a:r>
              </a:p>
              <a:p>
                <a:pPr marL="457200" indent="-457200">
                  <a:buAutoNum type="alphaUcParenBoth"/>
                </a:pP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G has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b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returns true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(iii)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shortest path tree rooted as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A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every edge (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u, 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2677656"/>
              </a:xfrm>
              <a:prstGeom prst="rect">
                <a:avLst/>
              </a:prstGeom>
              <a:blipFill rotWithShape="0">
                <a:blip r:embed="rId2"/>
                <a:stretch>
                  <a:fillRect l="-82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509" y="3228319"/>
            <a:ext cx="5295900" cy="3590925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1434517" y="3971185"/>
            <a:ext cx="6434356" cy="1901109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82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24.4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weighted, directed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graph.</a:t>
                </a:r>
              </a:p>
              <a:p>
                <a:pPr marL="457200" indent="-457200">
                  <a:buAutoNum type="alphaUcParenBoth"/>
                </a:pP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G has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b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returns true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(iii)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shortest path tree rooted as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A</a:t>
                </a:r>
              </a:p>
              <a:p>
                <a:r>
                  <a:rPr lang="en-US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b="0" dirty="0" err="1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b="0" dirty="0" smtClean="0">
                    <a:solidFill>
                      <a:srgbClr val="7030A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every edge (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u, v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514350" indent="-514350">
                  <a:buAutoNum type="romanLcParenBoth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will NEVER returns FALSE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4524315"/>
              </a:xfrm>
              <a:prstGeom prst="rect">
                <a:avLst/>
              </a:prstGeom>
              <a:blipFill rotWithShape="0">
                <a:blip r:embed="rId2"/>
                <a:stretch>
                  <a:fillRect l="-828" t="-1078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509" y="3228319"/>
            <a:ext cx="5295900" cy="3590925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1434517" y="3971185"/>
            <a:ext cx="6434356" cy="1901109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42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/>
              <p:cNvSpPr txBox="1"/>
              <p:nvPr/>
            </p:nvSpPr>
            <p:spPr>
              <a:xfrm>
                <a:off x="241625" y="1293529"/>
                <a:ext cx="11788188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24.4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weighted, directed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graph.</a:t>
                </a: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If G has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negative-weight 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b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:r>
                  <a:rPr lang="en-US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returns true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(iii)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shortest path tree rooted as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G has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negative-weight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cycle reachable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s,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returns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false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B:</a:t>
                </a:r>
              </a:p>
            </p:txBody>
          </p:sp>
        </mc:Choice>
        <mc:Fallback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3416320"/>
              </a:xfrm>
              <a:prstGeom prst="rect">
                <a:avLst/>
              </a:prstGeom>
              <a:blipFill rotWithShape="0">
                <a:blip r:embed="rId2"/>
                <a:stretch>
                  <a:fillRect l="-828" t="-1426" r="-724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06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we have negative weight cycle,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. .,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&gt;, where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687" y="2752730"/>
            <a:ext cx="2714625" cy="12096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1339" y="3044994"/>
            <a:ext cx="48029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negative weight cycle,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6685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" y="2627754"/>
            <a:ext cx="529590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6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" y="2627754"/>
            <a:ext cx="5295900" cy="359092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65402" y="5479850"/>
            <a:ext cx="3447875" cy="3486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652498" y="5384180"/>
            <a:ext cx="35397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will never execute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67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" y="2627754"/>
            <a:ext cx="5295900" cy="359092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65402" y="5479850"/>
            <a:ext cx="3447875" cy="3486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652498" y="5384180"/>
            <a:ext cx="35397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will never execute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08745" y="5086965"/>
            <a:ext cx="3447875" cy="34865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788120" y="4966128"/>
            <a:ext cx="30027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false always</a:t>
            </a:r>
            <a:endParaRPr lang="en-US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57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" y="2627754"/>
            <a:ext cx="5295900" cy="359092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65402" y="5479850"/>
            <a:ext cx="3447875" cy="3486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652498" y="5384180"/>
            <a:ext cx="35397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will never execute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08745" y="5086965"/>
            <a:ext cx="3447875" cy="34865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788120" y="4966128"/>
            <a:ext cx="30027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false always</a:t>
            </a:r>
            <a:endParaRPr lang="en-US" sz="28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5838065" y="3545327"/>
                <a:ext cx="2925415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This means, 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smtClean="0">
                    <a:solidFill>
                      <a:srgbClr val="7030A0"/>
                    </a:solidFill>
                  </a:rPr>
                  <a:t>for all edges in c</a:t>
                </a:r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065" y="3545327"/>
                <a:ext cx="2925415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3333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V="1">
            <a:off x="4303552" y="4185034"/>
            <a:ext cx="1602298" cy="1032918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81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5838065" y="3545327"/>
                <a:ext cx="2925415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This means, 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smtClean="0">
                    <a:solidFill>
                      <a:srgbClr val="7030A0"/>
                    </a:solidFill>
                  </a:rPr>
                  <a:t>for all edges in c</a:t>
                </a:r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065" y="3545327"/>
                <a:ext cx="2925415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3333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72" y="3013205"/>
            <a:ext cx="3971925" cy="390525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444171" y="2961157"/>
            <a:ext cx="24400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all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to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800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71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754336" y="2887434"/>
                <a:ext cx="5076013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2400" i="1" dirty="0" err="1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=k</a:t>
                </a:r>
                <a:endParaRPr lang="en-US" sz="24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36" y="2887434"/>
                <a:ext cx="5076013" cy="2677656"/>
              </a:xfrm>
              <a:prstGeom prst="rect">
                <a:avLst/>
              </a:prstGeom>
              <a:blipFill rotWithShape="0">
                <a:blip r:embed="rId2"/>
                <a:stretch>
                  <a:fillRect t="-1822" r="-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9920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754336" y="2887434"/>
                <a:ext cx="5076013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2400" i="1" dirty="0" err="1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=k</a:t>
                </a:r>
                <a:endParaRPr lang="en-US" sz="24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36" y="2887434"/>
                <a:ext cx="5076013" cy="2677656"/>
              </a:xfrm>
              <a:prstGeom prst="rect">
                <a:avLst/>
              </a:prstGeom>
              <a:blipFill rotWithShape="0">
                <a:blip r:embed="rId2"/>
                <a:stretch>
                  <a:fillRect t="-1822" r="-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451007" y="5947641"/>
            <a:ext cx="36920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Summing up all, we get,</a:t>
            </a:r>
            <a:endParaRPr lang="en-US" sz="2800" i="1" dirty="0">
              <a:solidFill>
                <a:srgbClr val="7030A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770" y="5573538"/>
            <a:ext cx="54864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8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25" y="2557879"/>
            <a:ext cx="5486400" cy="12096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862" y="4014697"/>
            <a:ext cx="42957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0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25" y="2557879"/>
            <a:ext cx="5486400" cy="12096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862" y="4014697"/>
            <a:ext cx="4295775" cy="11144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25840" y="5612081"/>
            <a:ext cx="18966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But, 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32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25" y="2557879"/>
            <a:ext cx="5486400" cy="12096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862" y="4014697"/>
            <a:ext cx="4295775" cy="11144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25840" y="5612081"/>
            <a:ext cx="34633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But, 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</a:t>
            </a:r>
            <a:endParaRPr lang="en-US" sz="2800" dirty="0">
              <a:solidFill>
                <a:srgbClr val="7030A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969" y="5326708"/>
            <a:ext cx="3086100" cy="12192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84095" y="2619092"/>
            <a:ext cx="1415768" cy="1343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290464" y="3887229"/>
            <a:ext cx="1415768" cy="1343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0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25" y="2557879"/>
            <a:ext cx="5486400" cy="12096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862" y="4014697"/>
            <a:ext cx="4295775" cy="11144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25840" y="5612081"/>
            <a:ext cx="12700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get,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84095" y="2619092"/>
            <a:ext cx="1415768" cy="1343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290464" y="3887229"/>
            <a:ext cx="1415768" cy="1343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832" y="5389413"/>
            <a:ext cx="2057400" cy="1143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640225" y="5672202"/>
            <a:ext cx="5613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≥0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7912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25" y="2557879"/>
            <a:ext cx="5486400" cy="12096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862" y="4014697"/>
            <a:ext cx="4295775" cy="11144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25840" y="5612081"/>
            <a:ext cx="12700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get,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84095" y="2619092"/>
            <a:ext cx="1415768" cy="1343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290464" y="3887229"/>
            <a:ext cx="1415768" cy="1343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832" y="5389413"/>
            <a:ext cx="2057400" cy="1143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640225" y="5672202"/>
            <a:ext cx="5613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≥0</a:t>
            </a:r>
            <a:endParaRPr lang="en-US" sz="2800" dirty="0"/>
          </a:p>
        </p:txBody>
      </p:sp>
      <p:sp>
        <p:nvSpPr>
          <p:cNvPr id="27" name="Rectangle 26"/>
          <p:cNvSpPr/>
          <p:nvPr/>
        </p:nvSpPr>
        <p:spPr>
          <a:xfrm>
            <a:off x="4655294" y="5638646"/>
            <a:ext cx="6811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of </a:t>
            </a:r>
            <a:r>
              <a:rPr 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is non-negative!!  Contradiction!!</a:t>
            </a:r>
          </a:p>
        </p:txBody>
      </p:sp>
    </p:spTree>
    <p:extLst>
      <p:ext uri="{BB962C8B-B14F-4D97-AF65-F5344CB8AC3E}">
        <p14:creationId xmlns:p14="http://schemas.microsoft.com/office/powerpoint/2010/main" val="414325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for the contradiction, algorithm returns TRUE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752703" y="3767554"/>
            <a:ext cx="42017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assumption was wrong</a:t>
            </a:r>
            <a:endParaRPr lang="en-US" sz="28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370664" y="2432807"/>
            <a:ext cx="1887523" cy="11874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54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" y="138622"/>
            <a:ext cx="12124888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Bellman-Ford Algorithm Correctly Finds Shortest Paths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41625" y="1293529"/>
            <a:ext cx="1178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B: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proved that algorithm returns FALSE if negative-weight cycle exists.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69896" y="418503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01447" y="5041235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864878" y="3073041"/>
            <a:ext cx="2132155" cy="2056081"/>
            <a:chOff x="4525117" y="4737079"/>
            <a:chExt cx="2132155" cy="2056081"/>
          </a:xfrm>
        </p:grpSpPr>
        <p:sp>
          <p:nvSpPr>
            <p:cNvPr id="7" name="Oval 6"/>
            <p:cNvSpPr/>
            <p:nvPr/>
          </p:nvSpPr>
          <p:spPr>
            <a:xfrm>
              <a:off x="5464228" y="6359940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8609" y="5630888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525117" y="5593815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64228" y="4737079"/>
              <a:ext cx="348663" cy="4332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786184" y="6021859"/>
              <a:ext cx="675502" cy="551958"/>
            </a:xfrm>
            <a:custGeom>
              <a:avLst/>
              <a:gdLst>
                <a:gd name="connsiteX0" fmla="*/ 0 w 675502"/>
                <a:gd name="connsiteY0" fmla="*/ 0 h 551958"/>
                <a:gd name="connsiteX1" fmla="*/ 24713 w 675502"/>
                <a:gd name="connsiteY1" fmla="*/ 90617 h 551958"/>
                <a:gd name="connsiteX2" fmla="*/ 32951 w 675502"/>
                <a:gd name="connsiteY2" fmla="*/ 115330 h 551958"/>
                <a:gd name="connsiteX3" fmla="*/ 41189 w 675502"/>
                <a:gd name="connsiteY3" fmla="*/ 140044 h 551958"/>
                <a:gd name="connsiteX4" fmla="*/ 74140 w 675502"/>
                <a:gd name="connsiteY4" fmla="*/ 189471 h 551958"/>
                <a:gd name="connsiteX5" fmla="*/ 107092 w 675502"/>
                <a:gd name="connsiteY5" fmla="*/ 263611 h 551958"/>
                <a:gd name="connsiteX6" fmla="*/ 181232 w 675502"/>
                <a:gd name="connsiteY6" fmla="*/ 321276 h 551958"/>
                <a:gd name="connsiteX7" fmla="*/ 205946 w 675502"/>
                <a:gd name="connsiteY7" fmla="*/ 337752 h 551958"/>
                <a:gd name="connsiteX8" fmla="*/ 222421 w 675502"/>
                <a:gd name="connsiteY8" fmla="*/ 362465 h 551958"/>
                <a:gd name="connsiteX9" fmla="*/ 296562 w 675502"/>
                <a:gd name="connsiteY9" fmla="*/ 403655 h 551958"/>
                <a:gd name="connsiteX10" fmla="*/ 321275 w 675502"/>
                <a:gd name="connsiteY10" fmla="*/ 420130 h 551958"/>
                <a:gd name="connsiteX11" fmla="*/ 370702 w 675502"/>
                <a:gd name="connsiteY11" fmla="*/ 436606 h 551958"/>
                <a:gd name="connsiteX12" fmla="*/ 395416 w 675502"/>
                <a:gd name="connsiteY12" fmla="*/ 444844 h 551958"/>
                <a:gd name="connsiteX13" fmla="*/ 469557 w 675502"/>
                <a:gd name="connsiteY13" fmla="*/ 477795 h 551958"/>
                <a:gd name="connsiteX14" fmla="*/ 543697 w 675502"/>
                <a:gd name="connsiteY14" fmla="*/ 502509 h 551958"/>
                <a:gd name="connsiteX15" fmla="*/ 568411 w 675502"/>
                <a:gd name="connsiteY15" fmla="*/ 510746 h 551958"/>
                <a:gd name="connsiteX16" fmla="*/ 642551 w 675502"/>
                <a:gd name="connsiteY16" fmla="*/ 543698 h 551958"/>
                <a:gd name="connsiteX17" fmla="*/ 675502 w 675502"/>
                <a:gd name="connsiteY17" fmla="*/ 551936 h 55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5502" h="551958">
                  <a:moveTo>
                    <a:pt x="0" y="0"/>
                  </a:moveTo>
                  <a:cubicBezTo>
                    <a:pt x="11643" y="58216"/>
                    <a:pt x="3811" y="27911"/>
                    <a:pt x="24713" y="90617"/>
                  </a:cubicBezTo>
                  <a:lnTo>
                    <a:pt x="32951" y="115330"/>
                  </a:lnTo>
                  <a:cubicBezTo>
                    <a:pt x="35697" y="123568"/>
                    <a:pt x="36372" y="132819"/>
                    <a:pt x="41189" y="140044"/>
                  </a:cubicBezTo>
                  <a:cubicBezTo>
                    <a:pt x="52173" y="156520"/>
                    <a:pt x="67878" y="170686"/>
                    <a:pt x="74140" y="189471"/>
                  </a:cubicBezTo>
                  <a:cubicBezTo>
                    <a:pt x="86115" y="225395"/>
                    <a:pt x="85333" y="237500"/>
                    <a:pt x="107092" y="263611"/>
                  </a:cubicBezTo>
                  <a:cubicBezTo>
                    <a:pt x="131291" y="292650"/>
                    <a:pt x="146782" y="298309"/>
                    <a:pt x="181232" y="321276"/>
                  </a:cubicBezTo>
                  <a:lnTo>
                    <a:pt x="205946" y="337752"/>
                  </a:lnTo>
                  <a:cubicBezTo>
                    <a:pt x="211438" y="345990"/>
                    <a:pt x="214970" y="355946"/>
                    <a:pt x="222421" y="362465"/>
                  </a:cubicBezTo>
                  <a:cubicBezTo>
                    <a:pt x="291682" y="423069"/>
                    <a:pt x="247533" y="379141"/>
                    <a:pt x="296562" y="403655"/>
                  </a:cubicBezTo>
                  <a:cubicBezTo>
                    <a:pt x="305417" y="408083"/>
                    <a:pt x="312228" y="416109"/>
                    <a:pt x="321275" y="420130"/>
                  </a:cubicBezTo>
                  <a:cubicBezTo>
                    <a:pt x="337145" y="427183"/>
                    <a:pt x="354226" y="431114"/>
                    <a:pt x="370702" y="436606"/>
                  </a:cubicBezTo>
                  <a:cubicBezTo>
                    <a:pt x="378940" y="439352"/>
                    <a:pt x="388191" y="440027"/>
                    <a:pt x="395416" y="444844"/>
                  </a:cubicBezTo>
                  <a:cubicBezTo>
                    <a:pt x="434581" y="470952"/>
                    <a:pt x="410737" y="458188"/>
                    <a:pt x="469557" y="477795"/>
                  </a:cubicBezTo>
                  <a:lnTo>
                    <a:pt x="543697" y="502509"/>
                  </a:lnTo>
                  <a:lnTo>
                    <a:pt x="568411" y="510746"/>
                  </a:lnTo>
                  <a:cubicBezTo>
                    <a:pt x="607574" y="536856"/>
                    <a:pt x="583732" y="524091"/>
                    <a:pt x="642551" y="543698"/>
                  </a:cubicBezTo>
                  <a:cubicBezTo>
                    <a:pt x="669869" y="552804"/>
                    <a:pt x="658582" y="551936"/>
                    <a:pt x="675502" y="551936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824151" y="6063049"/>
              <a:ext cx="617838" cy="486032"/>
            </a:xfrm>
            <a:custGeom>
              <a:avLst/>
              <a:gdLst>
                <a:gd name="connsiteX0" fmla="*/ 0 w 617838"/>
                <a:gd name="connsiteY0" fmla="*/ 486032 h 486032"/>
                <a:gd name="connsiteX1" fmla="*/ 41190 w 617838"/>
                <a:gd name="connsiteY1" fmla="*/ 477794 h 486032"/>
                <a:gd name="connsiteX2" fmla="*/ 164757 w 617838"/>
                <a:gd name="connsiteY2" fmla="*/ 469556 h 486032"/>
                <a:gd name="connsiteX3" fmla="*/ 230660 w 617838"/>
                <a:gd name="connsiteY3" fmla="*/ 453081 h 486032"/>
                <a:gd name="connsiteX4" fmla="*/ 255373 w 617838"/>
                <a:gd name="connsiteY4" fmla="*/ 436605 h 486032"/>
                <a:gd name="connsiteX5" fmla="*/ 304800 w 617838"/>
                <a:gd name="connsiteY5" fmla="*/ 387178 h 486032"/>
                <a:gd name="connsiteX6" fmla="*/ 354227 w 617838"/>
                <a:gd name="connsiteY6" fmla="*/ 362465 h 486032"/>
                <a:gd name="connsiteX7" fmla="*/ 378941 w 617838"/>
                <a:gd name="connsiteY7" fmla="*/ 354227 h 486032"/>
                <a:gd name="connsiteX8" fmla="*/ 403654 w 617838"/>
                <a:gd name="connsiteY8" fmla="*/ 337751 h 486032"/>
                <a:gd name="connsiteX9" fmla="*/ 420130 w 617838"/>
                <a:gd name="connsiteY9" fmla="*/ 313037 h 486032"/>
                <a:gd name="connsiteX10" fmla="*/ 444844 w 617838"/>
                <a:gd name="connsiteY10" fmla="*/ 304800 h 486032"/>
                <a:gd name="connsiteX11" fmla="*/ 469557 w 617838"/>
                <a:gd name="connsiteY11" fmla="*/ 280086 h 486032"/>
                <a:gd name="connsiteX12" fmla="*/ 494271 w 617838"/>
                <a:gd name="connsiteY12" fmla="*/ 263610 h 486032"/>
                <a:gd name="connsiteX13" fmla="*/ 535460 w 617838"/>
                <a:gd name="connsiteY13" fmla="*/ 214183 h 486032"/>
                <a:gd name="connsiteX14" fmla="*/ 551935 w 617838"/>
                <a:gd name="connsiteY14" fmla="*/ 181232 h 486032"/>
                <a:gd name="connsiteX15" fmla="*/ 584887 w 617838"/>
                <a:gd name="connsiteY15" fmla="*/ 131805 h 486032"/>
                <a:gd name="connsiteX16" fmla="*/ 601363 w 617838"/>
                <a:gd name="connsiteY16" fmla="*/ 65902 h 486032"/>
                <a:gd name="connsiteX17" fmla="*/ 609600 w 617838"/>
                <a:gd name="connsiteY17" fmla="*/ 41189 h 486032"/>
                <a:gd name="connsiteX18" fmla="*/ 617838 w 617838"/>
                <a:gd name="connsiteY18" fmla="*/ 0 h 48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7838" h="486032">
                  <a:moveTo>
                    <a:pt x="0" y="486032"/>
                  </a:moveTo>
                  <a:cubicBezTo>
                    <a:pt x="13730" y="483286"/>
                    <a:pt x="27258" y="479187"/>
                    <a:pt x="41190" y="477794"/>
                  </a:cubicBezTo>
                  <a:cubicBezTo>
                    <a:pt x="82266" y="473686"/>
                    <a:pt x="123681" y="473663"/>
                    <a:pt x="164757" y="469556"/>
                  </a:cubicBezTo>
                  <a:cubicBezTo>
                    <a:pt x="193163" y="466716"/>
                    <a:pt x="205872" y="461344"/>
                    <a:pt x="230660" y="453081"/>
                  </a:cubicBezTo>
                  <a:cubicBezTo>
                    <a:pt x="238898" y="447589"/>
                    <a:pt x="247973" y="443183"/>
                    <a:pt x="255373" y="436605"/>
                  </a:cubicBezTo>
                  <a:cubicBezTo>
                    <a:pt x="272788" y="421125"/>
                    <a:pt x="282696" y="394546"/>
                    <a:pt x="304800" y="387178"/>
                  </a:cubicBezTo>
                  <a:cubicBezTo>
                    <a:pt x="366920" y="366471"/>
                    <a:pt x="290349" y="394403"/>
                    <a:pt x="354227" y="362465"/>
                  </a:cubicBezTo>
                  <a:cubicBezTo>
                    <a:pt x="361994" y="358582"/>
                    <a:pt x="370703" y="356973"/>
                    <a:pt x="378941" y="354227"/>
                  </a:cubicBezTo>
                  <a:cubicBezTo>
                    <a:pt x="387179" y="348735"/>
                    <a:pt x="396653" y="344752"/>
                    <a:pt x="403654" y="337751"/>
                  </a:cubicBezTo>
                  <a:cubicBezTo>
                    <a:pt x="410655" y="330750"/>
                    <a:pt x="412399" y="319222"/>
                    <a:pt x="420130" y="313037"/>
                  </a:cubicBezTo>
                  <a:cubicBezTo>
                    <a:pt x="426911" y="307613"/>
                    <a:pt x="436606" y="307546"/>
                    <a:pt x="444844" y="304800"/>
                  </a:cubicBezTo>
                  <a:cubicBezTo>
                    <a:pt x="453082" y="296562"/>
                    <a:pt x="460607" y="287544"/>
                    <a:pt x="469557" y="280086"/>
                  </a:cubicBezTo>
                  <a:cubicBezTo>
                    <a:pt x="477163" y="273748"/>
                    <a:pt x="486665" y="269948"/>
                    <a:pt x="494271" y="263610"/>
                  </a:cubicBezTo>
                  <a:cubicBezTo>
                    <a:pt x="512857" y="248121"/>
                    <a:pt x="523679" y="234801"/>
                    <a:pt x="535460" y="214183"/>
                  </a:cubicBezTo>
                  <a:cubicBezTo>
                    <a:pt x="541553" y="203521"/>
                    <a:pt x="545617" y="191762"/>
                    <a:pt x="551935" y="181232"/>
                  </a:cubicBezTo>
                  <a:cubicBezTo>
                    <a:pt x="562123" y="164252"/>
                    <a:pt x="584887" y="131805"/>
                    <a:pt x="584887" y="131805"/>
                  </a:cubicBezTo>
                  <a:cubicBezTo>
                    <a:pt x="590379" y="109837"/>
                    <a:pt x="594203" y="87384"/>
                    <a:pt x="601363" y="65902"/>
                  </a:cubicBezTo>
                  <a:cubicBezTo>
                    <a:pt x="604109" y="57664"/>
                    <a:pt x="607494" y="49613"/>
                    <a:pt x="609600" y="41189"/>
                  </a:cubicBezTo>
                  <a:cubicBezTo>
                    <a:pt x="612996" y="27605"/>
                    <a:pt x="617838" y="0"/>
                    <a:pt x="617838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82962" y="4959178"/>
              <a:ext cx="717327" cy="667265"/>
            </a:xfrm>
            <a:custGeom>
              <a:avLst/>
              <a:gdLst>
                <a:gd name="connsiteX0" fmla="*/ 708454 w 717327"/>
                <a:gd name="connsiteY0" fmla="*/ 667265 h 667265"/>
                <a:gd name="connsiteX1" fmla="*/ 708454 w 717327"/>
                <a:gd name="connsiteY1" fmla="*/ 560173 h 667265"/>
                <a:gd name="connsiteX2" fmla="*/ 675503 w 717327"/>
                <a:gd name="connsiteY2" fmla="*/ 510746 h 667265"/>
                <a:gd name="connsiteX3" fmla="*/ 667265 w 717327"/>
                <a:gd name="connsiteY3" fmla="*/ 486033 h 667265"/>
                <a:gd name="connsiteX4" fmla="*/ 642552 w 717327"/>
                <a:gd name="connsiteY4" fmla="*/ 461319 h 667265"/>
                <a:gd name="connsiteX5" fmla="*/ 617838 w 717327"/>
                <a:gd name="connsiteY5" fmla="*/ 411892 h 667265"/>
                <a:gd name="connsiteX6" fmla="*/ 609600 w 717327"/>
                <a:gd name="connsiteY6" fmla="*/ 387179 h 667265"/>
                <a:gd name="connsiteX7" fmla="*/ 568411 w 717327"/>
                <a:gd name="connsiteY7" fmla="*/ 337752 h 667265"/>
                <a:gd name="connsiteX8" fmla="*/ 535460 w 717327"/>
                <a:gd name="connsiteY8" fmla="*/ 288325 h 667265"/>
                <a:gd name="connsiteX9" fmla="*/ 477795 w 717327"/>
                <a:gd name="connsiteY9" fmla="*/ 222422 h 667265"/>
                <a:gd name="connsiteX10" fmla="*/ 444843 w 717327"/>
                <a:gd name="connsiteY10" fmla="*/ 181233 h 667265"/>
                <a:gd name="connsiteX11" fmla="*/ 420130 w 717327"/>
                <a:gd name="connsiteY11" fmla="*/ 156519 h 667265"/>
                <a:gd name="connsiteX12" fmla="*/ 395416 w 717327"/>
                <a:gd name="connsiteY12" fmla="*/ 148281 h 667265"/>
                <a:gd name="connsiteX13" fmla="*/ 345989 w 717327"/>
                <a:gd name="connsiteY13" fmla="*/ 115330 h 667265"/>
                <a:gd name="connsiteX14" fmla="*/ 321276 w 717327"/>
                <a:gd name="connsiteY14" fmla="*/ 98854 h 667265"/>
                <a:gd name="connsiteX15" fmla="*/ 263611 w 717327"/>
                <a:gd name="connsiteY15" fmla="*/ 82379 h 667265"/>
                <a:gd name="connsiteX16" fmla="*/ 205946 w 717327"/>
                <a:gd name="connsiteY16" fmla="*/ 65903 h 667265"/>
                <a:gd name="connsiteX17" fmla="*/ 131806 w 717327"/>
                <a:gd name="connsiteY17" fmla="*/ 32952 h 667265"/>
                <a:gd name="connsiteX18" fmla="*/ 107092 w 717327"/>
                <a:gd name="connsiteY18" fmla="*/ 24714 h 667265"/>
                <a:gd name="connsiteX19" fmla="*/ 82379 w 717327"/>
                <a:gd name="connsiteY19" fmla="*/ 16476 h 667265"/>
                <a:gd name="connsiteX20" fmla="*/ 32952 w 717327"/>
                <a:gd name="connsiteY20" fmla="*/ 8238 h 667265"/>
                <a:gd name="connsiteX21" fmla="*/ 0 w 717327"/>
                <a:gd name="connsiteY21" fmla="*/ 0 h 667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7327" h="667265">
                  <a:moveTo>
                    <a:pt x="708454" y="667265"/>
                  </a:moveTo>
                  <a:cubicBezTo>
                    <a:pt x="715219" y="626676"/>
                    <a:pt x="724477" y="601834"/>
                    <a:pt x="708454" y="560173"/>
                  </a:cubicBezTo>
                  <a:cubicBezTo>
                    <a:pt x="701346" y="541692"/>
                    <a:pt x="681765" y="529531"/>
                    <a:pt x="675503" y="510746"/>
                  </a:cubicBezTo>
                  <a:cubicBezTo>
                    <a:pt x="672757" y="502508"/>
                    <a:pt x="672082" y="493258"/>
                    <a:pt x="667265" y="486033"/>
                  </a:cubicBezTo>
                  <a:cubicBezTo>
                    <a:pt x="660803" y="476340"/>
                    <a:pt x="650790" y="469557"/>
                    <a:pt x="642552" y="461319"/>
                  </a:cubicBezTo>
                  <a:cubicBezTo>
                    <a:pt x="621846" y="399203"/>
                    <a:pt x="649777" y="475769"/>
                    <a:pt x="617838" y="411892"/>
                  </a:cubicBezTo>
                  <a:cubicBezTo>
                    <a:pt x="613955" y="404125"/>
                    <a:pt x="613483" y="394946"/>
                    <a:pt x="609600" y="387179"/>
                  </a:cubicBezTo>
                  <a:cubicBezTo>
                    <a:pt x="598130" y="364240"/>
                    <a:pt x="586630" y="355971"/>
                    <a:pt x="568411" y="337752"/>
                  </a:cubicBezTo>
                  <a:cubicBezTo>
                    <a:pt x="552656" y="290488"/>
                    <a:pt x="571455" y="334604"/>
                    <a:pt x="535460" y="288325"/>
                  </a:cubicBezTo>
                  <a:cubicBezTo>
                    <a:pt x="483709" y="221788"/>
                    <a:pt x="525637" y="254318"/>
                    <a:pt x="477795" y="222422"/>
                  </a:cubicBezTo>
                  <a:cubicBezTo>
                    <a:pt x="464271" y="181849"/>
                    <a:pt x="479240" y="209897"/>
                    <a:pt x="444843" y="181233"/>
                  </a:cubicBezTo>
                  <a:cubicBezTo>
                    <a:pt x="435893" y="173775"/>
                    <a:pt x="429823" y="162981"/>
                    <a:pt x="420130" y="156519"/>
                  </a:cubicBezTo>
                  <a:cubicBezTo>
                    <a:pt x="412905" y="151702"/>
                    <a:pt x="403007" y="152498"/>
                    <a:pt x="395416" y="148281"/>
                  </a:cubicBezTo>
                  <a:cubicBezTo>
                    <a:pt x="378107" y="138665"/>
                    <a:pt x="362465" y="126314"/>
                    <a:pt x="345989" y="115330"/>
                  </a:cubicBezTo>
                  <a:cubicBezTo>
                    <a:pt x="337751" y="109838"/>
                    <a:pt x="330669" y="101984"/>
                    <a:pt x="321276" y="98854"/>
                  </a:cubicBezTo>
                  <a:cubicBezTo>
                    <a:pt x="262000" y="79098"/>
                    <a:pt x="336045" y="103075"/>
                    <a:pt x="263611" y="82379"/>
                  </a:cubicBezTo>
                  <a:cubicBezTo>
                    <a:pt x="180885" y="58743"/>
                    <a:pt x="308954" y="91656"/>
                    <a:pt x="205946" y="65903"/>
                  </a:cubicBezTo>
                  <a:cubicBezTo>
                    <a:pt x="166783" y="39793"/>
                    <a:pt x="190626" y="52558"/>
                    <a:pt x="131806" y="32952"/>
                  </a:cubicBezTo>
                  <a:lnTo>
                    <a:pt x="107092" y="24714"/>
                  </a:lnTo>
                  <a:cubicBezTo>
                    <a:pt x="98854" y="21968"/>
                    <a:pt x="90944" y="17904"/>
                    <a:pt x="82379" y="16476"/>
                  </a:cubicBezTo>
                  <a:cubicBezTo>
                    <a:pt x="65903" y="13730"/>
                    <a:pt x="49331" y="11514"/>
                    <a:pt x="32952" y="8238"/>
                  </a:cubicBezTo>
                  <a:cubicBezTo>
                    <a:pt x="21850" y="6018"/>
                    <a:pt x="0" y="0"/>
                    <a:pt x="0" y="0"/>
                  </a:cubicBezTo>
                </a:path>
              </a:pathLst>
            </a:custGeom>
            <a:noFill/>
            <a:ln w="28575"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4794420" y="4975053"/>
              <a:ext cx="691979" cy="618439"/>
            </a:xfrm>
            <a:custGeom>
              <a:avLst/>
              <a:gdLst>
                <a:gd name="connsiteX0" fmla="*/ 0 w 691979"/>
                <a:gd name="connsiteY0" fmla="*/ 618439 h 618439"/>
                <a:gd name="connsiteX1" fmla="*/ 16476 w 691979"/>
                <a:gd name="connsiteY1" fmla="*/ 577250 h 618439"/>
                <a:gd name="connsiteX2" fmla="*/ 32952 w 691979"/>
                <a:gd name="connsiteY2" fmla="*/ 552536 h 618439"/>
                <a:gd name="connsiteX3" fmla="*/ 65903 w 691979"/>
                <a:gd name="connsiteY3" fmla="*/ 478396 h 618439"/>
                <a:gd name="connsiteX4" fmla="*/ 82379 w 691979"/>
                <a:gd name="connsiteY4" fmla="*/ 428969 h 618439"/>
                <a:gd name="connsiteX5" fmla="*/ 90617 w 691979"/>
                <a:gd name="connsiteY5" fmla="*/ 404255 h 618439"/>
                <a:gd name="connsiteX6" fmla="*/ 107092 w 691979"/>
                <a:gd name="connsiteY6" fmla="*/ 379542 h 618439"/>
                <a:gd name="connsiteX7" fmla="*/ 115330 w 691979"/>
                <a:gd name="connsiteY7" fmla="*/ 354828 h 618439"/>
                <a:gd name="connsiteX8" fmla="*/ 164757 w 691979"/>
                <a:gd name="connsiteY8" fmla="*/ 313639 h 618439"/>
                <a:gd name="connsiteX9" fmla="*/ 238898 w 691979"/>
                <a:gd name="connsiteY9" fmla="*/ 247736 h 618439"/>
                <a:gd name="connsiteX10" fmla="*/ 313038 w 691979"/>
                <a:gd name="connsiteY10" fmla="*/ 165358 h 618439"/>
                <a:gd name="connsiteX11" fmla="*/ 337752 w 691979"/>
                <a:gd name="connsiteY11" fmla="*/ 148882 h 618439"/>
                <a:gd name="connsiteX12" fmla="*/ 387179 w 691979"/>
                <a:gd name="connsiteY12" fmla="*/ 132406 h 618439"/>
                <a:gd name="connsiteX13" fmla="*/ 436606 w 691979"/>
                <a:gd name="connsiteY13" fmla="*/ 115931 h 618439"/>
                <a:gd name="connsiteX14" fmla="*/ 494271 w 691979"/>
                <a:gd name="connsiteY14" fmla="*/ 91217 h 618439"/>
                <a:gd name="connsiteX15" fmla="*/ 543698 w 691979"/>
                <a:gd name="connsiteY15" fmla="*/ 74742 h 618439"/>
                <a:gd name="connsiteX16" fmla="*/ 568411 w 691979"/>
                <a:gd name="connsiteY16" fmla="*/ 58266 h 618439"/>
                <a:gd name="connsiteX17" fmla="*/ 593125 w 691979"/>
                <a:gd name="connsiteY17" fmla="*/ 33552 h 618439"/>
                <a:gd name="connsiteX18" fmla="*/ 617838 w 691979"/>
                <a:gd name="connsiteY18" fmla="*/ 25315 h 618439"/>
                <a:gd name="connsiteX19" fmla="*/ 667265 w 691979"/>
                <a:gd name="connsiteY19" fmla="*/ 601 h 618439"/>
                <a:gd name="connsiteX20" fmla="*/ 691979 w 691979"/>
                <a:gd name="connsiteY20" fmla="*/ 601 h 61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1979" h="618439">
                  <a:moveTo>
                    <a:pt x="0" y="618439"/>
                  </a:moveTo>
                  <a:cubicBezTo>
                    <a:pt x="5492" y="604709"/>
                    <a:pt x="9863" y="590476"/>
                    <a:pt x="16476" y="577250"/>
                  </a:cubicBezTo>
                  <a:cubicBezTo>
                    <a:pt x="20904" y="568394"/>
                    <a:pt x="28931" y="561584"/>
                    <a:pt x="32952" y="552536"/>
                  </a:cubicBezTo>
                  <a:cubicBezTo>
                    <a:pt x="72163" y="464310"/>
                    <a:pt x="28617" y="534323"/>
                    <a:pt x="65903" y="478396"/>
                  </a:cubicBezTo>
                  <a:lnTo>
                    <a:pt x="82379" y="428969"/>
                  </a:lnTo>
                  <a:cubicBezTo>
                    <a:pt x="85125" y="420731"/>
                    <a:pt x="85800" y="411480"/>
                    <a:pt x="90617" y="404255"/>
                  </a:cubicBezTo>
                  <a:cubicBezTo>
                    <a:pt x="96109" y="396017"/>
                    <a:pt x="102664" y="388397"/>
                    <a:pt x="107092" y="379542"/>
                  </a:cubicBezTo>
                  <a:cubicBezTo>
                    <a:pt x="110975" y="371775"/>
                    <a:pt x="110513" y="362053"/>
                    <a:pt x="115330" y="354828"/>
                  </a:cubicBezTo>
                  <a:cubicBezTo>
                    <a:pt x="135816" y="324099"/>
                    <a:pt x="139893" y="335740"/>
                    <a:pt x="164757" y="313639"/>
                  </a:cubicBezTo>
                  <a:cubicBezTo>
                    <a:pt x="249395" y="238404"/>
                    <a:pt x="182810" y="285128"/>
                    <a:pt x="238898" y="247736"/>
                  </a:cubicBezTo>
                  <a:cubicBezTo>
                    <a:pt x="260169" y="219375"/>
                    <a:pt x="283470" y="185070"/>
                    <a:pt x="313038" y="165358"/>
                  </a:cubicBezTo>
                  <a:cubicBezTo>
                    <a:pt x="321276" y="159866"/>
                    <a:pt x="328705" y="152903"/>
                    <a:pt x="337752" y="148882"/>
                  </a:cubicBezTo>
                  <a:cubicBezTo>
                    <a:pt x="353622" y="141829"/>
                    <a:pt x="370703" y="137898"/>
                    <a:pt x="387179" y="132406"/>
                  </a:cubicBezTo>
                  <a:lnTo>
                    <a:pt x="436606" y="115931"/>
                  </a:lnTo>
                  <a:cubicBezTo>
                    <a:pt x="516165" y="89411"/>
                    <a:pt x="392462" y="131940"/>
                    <a:pt x="494271" y="91217"/>
                  </a:cubicBezTo>
                  <a:cubicBezTo>
                    <a:pt x="510396" y="84767"/>
                    <a:pt x="543698" y="74742"/>
                    <a:pt x="543698" y="74742"/>
                  </a:cubicBezTo>
                  <a:cubicBezTo>
                    <a:pt x="551936" y="69250"/>
                    <a:pt x="560805" y="64604"/>
                    <a:pt x="568411" y="58266"/>
                  </a:cubicBezTo>
                  <a:cubicBezTo>
                    <a:pt x="577361" y="50808"/>
                    <a:pt x="583431" y="40014"/>
                    <a:pt x="593125" y="33552"/>
                  </a:cubicBezTo>
                  <a:cubicBezTo>
                    <a:pt x="600350" y="28735"/>
                    <a:pt x="609600" y="28061"/>
                    <a:pt x="617838" y="25315"/>
                  </a:cubicBezTo>
                  <a:cubicBezTo>
                    <a:pt x="636813" y="12665"/>
                    <a:pt x="644529" y="4390"/>
                    <a:pt x="667265" y="601"/>
                  </a:cubicBezTo>
                  <a:cubicBezTo>
                    <a:pt x="675391" y="-753"/>
                    <a:pt x="683741" y="601"/>
                    <a:pt x="691979" y="601"/>
                  </a:cubicBezTo>
                </a:path>
              </a:pathLst>
            </a:custGeom>
            <a:noFill/>
            <a:ln w="28575">
              <a:prstDash val="dash"/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8913" y="3826153"/>
            <a:ext cx="893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63234" y="47041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2837" y="3244334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94083" y="3876562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24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Complexity of Bellman-Ford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500187"/>
            <a:ext cx="5295900" cy="3590925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6219559" y="2125359"/>
            <a:ext cx="947352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33960" y="2034535"/>
                <a:ext cx="7414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960" y="2034535"/>
                <a:ext cx="741405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639" r="-2213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4332642" y="2475471"/>
            <a:ext cx="270290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21601" y="2384647"/>
                <a:ext cx="7414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601" y="2384647"/>
                <a:ext cx="741405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639" r="-22131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5634400" y="2883239"/>
            <a:ext cx="1260926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142251" y="2800653"/>
                <a:ext cx="7780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251" y="2800653"/>
                <a:ext cx="778098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2362" r="-16535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Arrow 9"/>
          <p:cNvSpPr/>
          <p:nvPr/>
        </p:nvSpPr>
        <p:spPr>
          <a:xfrm>
            <a:off x="4896704" y="3291015"/>
            <a:ext cx="223380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104800" y="3183749"/>
                <a:ext cx="8155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800" y="3183749"/>
                <a:ext cx="815549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493" r="-746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4921418" y="3637004"/>
            <a:ext cx="223380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072227" y="3554418"/>
                <a:ext cx="7780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227" y="3554418"/>
                <a:ext cx="778098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563" r="-1640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467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Complexity of Bellman-Ford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500187"/>
            <a:ext cx="5295900" cy="3590925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6219559" y="2125359"/>
            <a:ext cx="947352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33960" y="2034535"/>
                <a:ext cx="7414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960" y="2034535"/>
                <a:ext cx="741405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639" r="-2213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4332642" y="2475471"/>
            <a:ext cx="270290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21601" y="2384647"/>
                <a:ext cx="7414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601" y="2384647"/>
                <a:ext cx="741405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639" r="-22131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5634400" y="2883239"/>
            <a:ext cx="1260926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142251" y="2800653"/>
                <a:ext cx="7780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251" y="2800653"/>
                <a:ext cx="778098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2362" r="-16535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Arrow 9"/>
          <p:cNvSpPr/>
          <p:nvPr/>
        </p:nvSpPr>
        <p:spPr>
          <a:xfrm>
            <a:off x="4896704" y="3291015"/>
            <a:ext cx="223380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104800" y="3183749"/>
                <a:ext cx="8155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800" y="3183749"/>
                <a:ext cx="815549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493" r="-746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4921418" y="3637004"/>
            <a:ext cx="223380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072227" y="3554418"/>
                <a:ext cx="7780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227" y="3554418"/>
                <a:ext cx="778098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563" r="-1640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846167" y="5764509"/>
                <a:ext cx="41893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 smtClean="0">
                    <a:solidFill>
                      <a:srgbClr val="7030A0"/>
                    </a:solidFill>
                  </a:rPr>
                  <a:t>Total complexity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𝑉𝐸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167" y="5764509"/>
                <a:ext cx="4189382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2329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841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53" y="1690688"/>
            <a:ext cx="76390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4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SSSP for DAG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1643"/>
            <a:ext cx="5189416" cy="156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322128" y="1140447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27853" y="1162557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786240" y="2184310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2052195" y="319768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3372713" y="319768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867438" y="87605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>
            <a:endCxn id="5" idx="3"/>
          </p:cNvCxnSpPr>
          <p:nvPr/>
        </p:nvCxnSpPr>
        <p:spPr>
          <a:xfrm flipV="1">
            <a:off x="2453885" y="1555633"/>
            <a:ext cx="949267" cy="171525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6"/>
            <a:endCxn id="5" idx="2"/>
          </p:cNvCxnSpPr>
          <p:nvPr/>
        </p:nvCxnSpPr>
        <p:spPr>
          <a:xfrm>
            <a:off x="2485097" y="1383658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7" idx="7"/>
            <a:endCxn id="6" idx="3"/>
          </p:cNvCxnSpPr>
          <p:nvPr/>
        </p:nvCxnSpPr>
        <p:spPr>
          <a:xfrm flipV="1">
            <a:off x="1176522" y="1539999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5"/>
            <a:endCxn id="8" idx="1"/>
          </p:cNvCxnSpPr>
          <p:nvPr/>
        </p:nvCxnSpPr>
        <p:spPr>
          <a:xfrm>
            <a:off x="1176522" y="2561752"/>
            <a:ext cx="942635" cy="70069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43180" y="2670136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96749" y="2140396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87455" y="2806359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37100" y="1016418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85818" y="1573611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990184" y="879001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32" name="Oval 31"/>
          <p:cNvSpPr/>
          <p:nvPr/>
        </p:nvSpPr>
        <p:spPr>
          <a:xfrm>
            <a:off x="10463801" y="168232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10305124" y="1092586"/>
            <a:ext cx="705060" cy="205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1" idx="3"/>
            <a:endCxn id="32" idx="7"/>
          </p:cNvCxnSpPr>
          <p:nvPr/>
        </p:nvCxnSpPr>
        <p:spPr>
          <a:xfrm flipH="1">
            <a:off x="10854083" y="1256443"/>
            <a:ext cx="203063" cy="49064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10" idx="5"/>
          </p:cNvCxnSpPr>
          <p:nvPr/>
        </p:nvCxnSpPr>
        <p:spPr>
          <a:xfrm flipH="1" flipV="1">
            <a:off x="10257720" y="1253500"/>
            <a:ext cx="288654" cy="49781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503344" y="699943"/>
            <a:ext cx="297741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41646" y="1429046"/>
            <a:ext cx="479515" cy="335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963117" y="1312041"/>
            <a:ext cx="327515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459589" y="2141011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55447" y="1957391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6986" y="1809794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36459" y="786368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494440" y="774115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64174" y="3564957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50729" y="3531087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961210" y="566255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122177" y="525443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573357" y="2008861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867" y="3957774"/>
            <a:ext cx="3600450" cy="2628900"/>
          </a:xfrm>
          <a:prstGeom prst="rect">
            <a:avLst/>
          </a:prstGeom>
        </p:spPr>
      </p:pic>
      <p:sp>
        <p:nvSpPr>
          <p:cNvPr id="56" name="Arc 55"/>
          <p:cNvSpPr/>
          <p:nvPr/>
        </p:nvSpPr>
        <p:spPr>
          <a:xfrm rot="16200000">
            <a:off x="1360959" y="2212577"/>
            <a:ext cx="174977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Arc 56"/>
          <p:cNvSpPr/>
          <p:nvPr/>
        </p:nvSpPr>
        <p:spPr>
          <a:xfrm rot="5400000">
            <a:off x="1479332" y="2259081"/>
            <a:ext cx="174977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184831" y="2169227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625247" y="2169842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Arc 59"/>
          <p:cNvSpPr/>
          <p:nvPr/>
        </p:nvSpPr>
        <p:spPr>
          <a:xfrm rot="16200000">
            <a:off x="2749041" y="2241408"/>
            <a:ext cx="174977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Arc 60"/>
          <p:cNvSpPr/>
          <p:nvPr/>
        </p:nvSpPr>
        <p:spPr>
          <a:xfrm rot="5400000">
            <a:off x="2867414" y="2287912"/>
            <a:ext cx="174977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Straight Connector 61"/>
          <p:cNvCxnSpPr/>
          <p:nvPr/>
        </p:nvCxnSpPr>
        <p:spPr>
          <a:xfrm>
            <a:off x="2538641" y="3463717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90644" y="3096477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" name="Straight Connector 64"/>
          <p:cNvCxnSpPr>
            <a:endCxn id="7" idx="6"/>
          </p:cNvCxnSpPr>
          <p:nvPr/>
        </p:nvCxnSpPr>
        <p:spPr>
          <a:xfrm flipH="1" flipV="1">
            <a:off x="1243484" y="2405411"/>
            <a:ext cx="2173592" cy="82451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7066218" y="996283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5771943" y="1018393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30330" y="204014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5796285" y="305352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116803" y="305352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Straight Connector 72"/>
          <p:cNvCxnSpPr>
            <a:stCxn id="68" idx="6"/>
            <a:endCxn id="67" idx="2"/>
          </p:cNvCxnSpPr>
          <p:nvPr/>
        </p:nvCxnSpPr>
        <p:spPr>
          <a:xfrm>
            <a:off x="6229187" y="1239494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9" idx="7"/>
            <a:endCxn id="68" idx="3"/>
          </p:cNvCxnSpPr>
          <p:nvPr/>
        </p:nvCxnSpPr>
        <p:spPr>
          <a:xfrm flipV="1">
            <a:off x="4920612" y="1395835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9" idx="5"/>
            <a:endCxn id="70" idx="1"/>
          </p:cNvCxnSpPr>
          <p:nvPr/>
        </p:nvCxnSpPr>
        <p:spPr>
          <a:xfrm>
            <a:off x="4920612" y="2417588"/>
            <a:ext cx="942635" cy="70069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131545" y="2662195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81190" y="872254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129908" y="1429447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621076" y="1665630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880549" y="642204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238530" y="629951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08264" y="3420793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294819" y="3386923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>
            <a:off x="6282731" y="3319553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534734" y="2952313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868" y="4042211"/>
            <a:ext cx="35052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792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9867438" y="87605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990184" y="879001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32" name="Oval 31"/>
          <p:cNvSpPr/>
          <p:nvPr/>
        </p:nvSpPr>
        <p:spPr>
          <a:xfrm>
            <a:off x="10463801" y="168232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10305124" y="1092586"/>
            <a:ext cx="705060" cy="205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1" idx="3"/>
            <a:endCxn id="32" idx="7"/>
          </p:cNvCxnSpPr>
          <p:nvPr/>
        </p:nvCxnSpPr>
        <p:spPr>
          <a:xfrm flipH="1">
            <a:off x="10854083" y="1256443"/>
            <a:ext cx="203063" cy="49064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10" idx="5"/>
          </p:cNvCxnSpPr>
          <p:nvPr/>
        </p:nvCxnSpPr>
        <p:spPr>
          <a:xfrm flipH="1" flipV="1">
            <a:off x="10257720" y="1253500"/>
            <a:ext cx="288654" cy="49781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503344" y="699943"/>
            <a:ext cx="297741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41646" y="1429046"/>
            <a:ext cx="479515" cy="335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963117" y="1312041"/>
            <a:ext cx="327515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961210" y="566255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122177" y="525443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573357" y="2008861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867" y="3957774"/>
            <a:ext cx="3600450" cy="2628900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7066218" y="996283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5771943" y="1018393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30330" y="204014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5796285" y="305352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116803" y="305352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Straight Connector 72"/>
          <p:cNvCxnSpPr>
            <a:stCxn id="68" idx="6"/>
            <a:endCxn id="67" idx="2"/>
          </p:cNvCxnSpPr>
          <p:nvPr/>
        </p:nvCxnSpPr>
        <p:spPr>
          <a:xfrm>
            <a:off x="6229187" y="1239494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9" idx="7"/>
            <a:endCxn id="68" idx="3"/>
          </p:cNvCxnSpPr>
          <p:nvPr/>
        </p:nvCxnSpPr>
        <p:spPr>
          <a:xfrm flipV="1">
            <a:off x="4920612" y="1395835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9" idx="5"/>
            <a:endCxn id="70" idx="1"/>
          </p:cNvCxnSpPr>
          <p:nvPr/>
        </p:nvCxnSpPr>
        <p:spPr>
          <a:xfrm>
            <a:off x="4920612" y="2417588"/>
            <a:ext cx="942635" cy="70069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131545" y="2662195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81190" y="872254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129908" y="1429447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621076" y="1665630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880549" y="642204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238530" y="629951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08264" y="3420793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294819" y="3386923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>
            <a:off x="6282731" y="3319553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534734" y="2952313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868" y="4042211"/>
            <a:ext cx="3505200" cy="2628900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786240" y="774115"/>
            <a:ext cx="3130891" cy="3252507"/>
            <a:chOff x="786240" y="774115"/>
            <a:chExt cx="3130891" cy="3252507"/>
          </a:xfrm>
        </p:grpSpPr>
        <p:sp>
          <p:nvSpPr>
            <p:cNvPr id="5" name="Oval 4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4" name="Straight Connector 13"/>
            <p:cNvCxnSpPr>
              <a:endCxn id="5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7" idx="7"/>
              <a:endCxn id="6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7" idx="5"/>
              <a:endCxn id="8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Arc 55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Arc 56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>
              <a:endCxn id="7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" name="Straight Connector 65"/>
            <p:cNvCxnSpPr>
              <a:stCxn id="9" idx="0"/>
              <a:endCxn id="5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endCxn id="8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7" name="Straight Connector 76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5168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97693"/>
            <a:ext cx="10515600" cy="9834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C00000"/>
                </a:solidFill>
              </a:rPr>
              <a:t>End of Slides</a:t>
            </a:r>
            <a:endParaRPr lang="en-US" sz="4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1840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smtClean="0">
                <a:solidFill>
                  <a:schemeClr val="accent2">
                    <a:lumMod val="50000"/>
                  </a:schemeClr>
                </a:solidFill>
              </a:rPr>
              <a:t>Negative Weight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Edges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1600200"/>
            <a:ext cx="92773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1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502941" y="1260156"/>
            <a:ext cx="6509318" cy="3064196"/>
            <a:chOff x="1495589" y="1225886"/>
            <a:chExt cx="8811790" cy="4289159"/>
          </a:xfrm>
        </p:grpSpPr>
        <p:sp>
          <p:nvSpPr>
            <p:cNvPr id="38" name="Oval 37"/>
            <p:cNvSpPr/>
            <p:nvPr/>
          </p:nvSpPr>
          <p:spPr>
            <a:xfrm>
              <a:off x="4928470" y="1738665"/>
              <a:ext cx="748966" cy="68087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3176385" y="1769614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1495589" y="3199830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3209337" y="4618322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∞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4996948" y="4618322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∞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8168516" y="3132082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3276186" y="3199830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6825112" y="3199830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Straight Connector 46"/>
            <p:cNvCxnSpPr>
              <a:stCxn id="38" idx="6"/>
              <a:endCxn id="45" idx="1"/>
            </p:cNvCxnSpPr>
            <p:nvPr/>
          </p:nvCxnSpPr>
          <p:spPr>
            <a:xfrm>
              <a:off x="5677435" y="2079104"/>
              <a:ext cx="1238324" cy="121137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2" idx="6"/>
              <a:endCxn id="45" idx="3"/>
            </p:cNvCxnSpPr>
            <p:nvPr/>
          </p:nvCxnSpPr>
          <p:spPr>
            <a:xfrm flipV="1">
              <a:off x="5615928" y="3728160"/>
              <a:ext cx="1299832" cy="11996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39" idx="6"/>
              <a:endCxn id="38" idx="2"/>
            </p:cNvCxnSpPr>
            <p:nvPr/>
          </p:nvCxnSpPr>
          <p:spPr>
            <a:xfrm>
              <a:off x="3795365" y="2079104"/>
              <a:ext cx="1133105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0" idx="7"/>
              <a:endCxn id="39" idx="3"/>
            </p:cNvCxnSpPr>
            <p:nvPr/>
          </p:nvCxnSpPr>
          <p:spPr>
            <a:xfrm flipV="1">
              <a:off x="2023921" y="2297945"/>
              <a:ext cx="1243111" cy="99253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0" idx="5"/>
              <a:endCxn id="41" idx="1"/>
            </p:cNvCxnSpPr>
            <p:nvPr/>
          </p:nvCxnSpPr>
          <p:spPr>
            <a:xfrm>
              <a:off x="2023921" y="3728160"/>
              <a:ext cx="1276063" cy="980809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6080857" y="2121098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053229" y="2968508"/>
              <a:ext cx="785446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236152" y="4177237"/>
              <a:ext cx="785446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09465" y="4070553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136506" y="1565054"/>
              <a:ext cx="785446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307250" y="2344994"/>
              <a:ext cx="366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4993775" y="3195707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Straight Connector 74"/>
            <p:cNvCxnSpPr>
              <a:endCxn id="44" idx="2"/>
            </p:cNvCxnSpPr>
            <p:nvPr/>
          </p:nvCxnSpPr>
          <p:spPr>
            <a:xfrm flipV="1">
              <a:off x="2090522" y="3509320"/>
              <a:ext cx="1185665" cy="2884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5583902" y="3505197"/>
              <a:ext cx="1270377" cy="288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Arc 7"/>
            <p:cNvSpPr/>
            <p:nvPr/>
          </p:nvSpPr>
          <p:spPr>
            <a:xfrm>
              <a:off x="3758991" y="3227992"/>
              <a:ext cx="1356706" cy="281325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Arc 76"/>
            <p:cNvSpPr/>
            <p:nvPr/>
          </p:nvSpPr>
          <p:spPr>
            <a:xfrm rot="10800000">
              <a:off x="3771345" y="3471010"/>
              <a:ext cx="1356706" cy="281325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Arc 77"/>
            <p:cNvSpPr/>
            <p:nvPr/>
          </p:nvSpPr>
          <p:spPr>
            <a:xfrm>
              <a:off x="3721920" y="4714926"/>
              <a:ext cx="1356706" cy="281325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Arc 78"/>
            <p:cNvSpPr/>
            <p:nvPr/>
          </p:nvSpPr>
          <p:spPr>
            <a:xfrm rot="10800000">
              <a:off x="3726036" y="4883802"/>
              <a:ext cx="1356706" cy="281325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9688399" y="3136202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8975824" y="4260669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 flipV="1">
              <a:off x="8761020" y="3435171"/>
              <a:ext cx="954453" cy="288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33" idx="3"/>
              <a:endCxn id="34" idx="7"/>
            </p:cNvCxnSpPr>
            <p:nvPr/>
          </p:nvCxnSpPr>
          <p:spPr>
            <a:xfrm flipH="1">
              <a:off x="9504156" y="3664533"/>
              <a:ext cx="274890" cy="686784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endCxn id="43" idx="5"/>
            </p:cNvCxnSpPr>
            <p:nvPr/>
          </p:nvCxnSpPr>
          <p:spPr>
            <a:xfrm flipH="1" flipV="1">
              <a:off x="8696848" y="3660413"/>
              <a:ext cx="390757" cy="696829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9029354" y="2885563"/>
              <a:ext cx="403058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404344" y="3906136"/>
              <a:ext cx="649129" cy="469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651758" y="3742357"/>
              <a:ext cx="4433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421877" y="2986721"/>
              <a:ext cx="366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198290" y="2687570"/>
              <a:ext cx="785446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140622" y="3692161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218061" y="5053380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180915" y="4218065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618433" y="2675595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323407" y="1243037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161732" y="1225886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399608" y="2688928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237931" y="2662263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360925" y="4117679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237931" y="4012613"/>
              <a:ext cx="366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019107" y="2595587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295457" y="2698431"/>
              <a:ext cx="366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867081" y="2641304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9124132" y="4717742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415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/>
          <p:cNvSpPr/>
          <p:nvPr/>
        </p:nvSpPr>
        <p:spPr>
          <a:xfrm>
            <a:off x="5021598" y="179775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3204521" y="179775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523725" y="322796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3237473" y="464645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∞</a:t>
            </a:r>
          </a:p>
        </p:txBody>
      </p:sp>
      <p:sp>
        <p:nvSpPr>
          <p:cNvPr id="42" name="Oval 41"/>
          <p:cNvSpPr/>
          <p:nvPr/>
        </p:nvSpPr>
        <p:spPr>
          <a:xfrm>
            <a:off x="5025083" y="464645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∞</a:t>
            </a:r>
          </a:p>
        </p:txBody>
      </p:sp>
      <p:sp>
        <p:nvSpPr>
          <p:cNvPr id="43" name="Oval 42"/>
          <p:cNvSpPr/>
          <p:nvPr/>
        </p:nvSpPr>
        <p:spPr>
          <a:xfrm>
            <a:off x="8196651" y="316021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3304322" y="322796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853248" y="322796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>
            <a:stCxn id="38" idx="6"/>
            <a:endCxn id="45" idx="1"/>
          </p:cNvCxnSpPr>
          <p:nvPr/>
        </p:nvCxnSpPr>
        <p:spPr>
          <a:xfrm>
            <a:off x="5584306" y="2079104"/>
            <a:ext cx="1351349" cy="123126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2" idx="6"/>
            <a:endCxn id="45" idx="3"/>
          </p:cNvCxnSpPr>
          <p:nvPr/>
        </p:nvCxnSpPr>
        <p:spPr>
          <a:xfrm flipV="1">
            <a:off x="5587791" y="3708266"/>
            <a:ext cx="1347864" cy="12195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9" idx="6"/>
            <a:endCxn id="38" idx="2"/>
          </p:cNvCxnSpPr>
          <p:nvPr/>
        </p:nvCxnSpPr>
        <p:spPr>
          <a:xfrm>
            <a:off x="3767229" y="2079104"/>
            <a:ext cx="1254369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0" idx="7"/>
            <a:endCxn id="39" idx="3"/>
          </p:cNvCxnSpPr>
          <p:nvPr/>
        </p:nvCxnSpPr>
        <p:spPr>
          <a:xfrm flipV="1">
            <a:off x="2004026" y="2278051"/>
            <a:ext cx="1282902" cy="103232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0" idx="5"/>
            <a:endCxn id="41" idx="1"/>
          </p:cNvCxnSpPr>
          <p:nvPr/>
        </p:nvCxnSpPr>
        <p:spPr>
          <a:xfrm>
            <a:off x="2004026" y="3708266"/>
            <a:ext cx="1315854" cy="102059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069705" y="222488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053229" y="310183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236152" y="42705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309465" y="407055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36506" y="164505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351857" y="246030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5021910" y="3223843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5" name="Straight Connector 74"/>
          <p:cNvCxnSpPr>
            <a:endCxn id="44" idx="2"/>
          </p:cNvCxnSpPr>
          <p:nvPr/>
        </p:nvCxnSpPr>
        <p:spPr>
          <a:xfrm flipV="1">
            <a:off x="2090522" y="3509319"/>
            <a:ext cx="1213800" cy="288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5583902" y="3505197"/>
            <a:ext cx="1270377" cy="288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/>
          <p:cNvSpPr/>
          <p:nvPr/>
        </p:nvSpPr>
        <p:spPr>
          <a:xfrm>
            <a:off x="3758991" y="3227992"/>
            <a:ext cx="1356706" cy="281325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Arc 76"/>
          <p:cNvSpPr/>
          <p:nvPr/>
        </p:nvSpPr>
        <p:spPr>
          <a:xfrm rot="10800000">
            <a:off x="3771345" y="3471010"/>
            <a:ext cx="1356706" cy="281325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Arc 77"/>
          <p:cNvSpPr/>
          <p:nvPr/>
        </p:nvSpPr>
        <p:spPr>
          <a:xfrm>
            <a:off x="3721920" y="4714926"/>
            <a:ext cx="1356706" cy="281325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Arc 78"/>
          <p:cNvSpPr/>
          <p:nvPr/>
        </p:nvSpPr>
        <p:spPr>
          <a:xfrm rot="10800000">
            <a:off x="3726036" y="4883802"/>
            <a:ext cx="1356706" cy="281325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716535" y="3164337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34" name="Oval 33"/>
          <p:cNvSpPr/>
          <p:nvPr/>
        </p:nvSpPr>
        <p:spPr>
          <a:xfrm>
            <a:off x="9003959" y="428880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8761020" y="3435171"/>
            <a:ext cx="954453" cy="288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33" idx="3"/>
            <a:endCxn id="34" idx="7"/>
          </p:cNvCxnSpPr>
          <p:nvPr/>
        </p:nvCxnSpPr>
        <p:spPr>
          <a:xfrm flipH="1">
            <a:off x="9484260" y="3644638"/>
            <a:ext cx="314682" cy="7265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endCxn id="43" idx="5"/>
          </p:cNvCxnSpPr>
          <p:nvPr/>
        </p:nvCxnSpPr>
        <p:spPr>
          <a:xfrm flipH="1" flipV="1">
            <a:off x="8676952" y="3640519"/>
            <a:ext cx="410651" cy="71672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29354" y="3058889"/>
            <a:ext cx="403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494333" y="3919469"/>
            <a:ext cx="443364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651758" y="3742357"/>
            <a:ext cx="443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21877" y="3090502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98290" y="279423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40622" y="36921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256744" y="510671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180915" y="421806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618432" y="282225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323407" y="140303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161732" y="134588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399607" y="282225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237932" y="282225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399607" y="425100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237932" y="426053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019107" y="275558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295457" y="269843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867082" y="277463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124132" y="478440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59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19254</TotalTime>
  <Words>3746</Words>
  <Application>Microsoft Office PowerPoint</Application>
  <PresentationFormat>Widescreen</PresentationFormat>
  <Paragraphs>1358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Arial</vt:lpstr>
      <vt:lpstr>Calibri</vt:lpstr>
      <vt:lpstr>Calibri Light</vt:lpstr>
      <vt:lpstr>Cambria Math</vt:lpstr>
      <vt:lpstr>Symbol</vt:lpstr>
      <vt:lpstr>Times New Roman</vt:lpstr>
      <vt:lpstr>Office Theme</vt:lpstr>
      <vt:lpstr>CSE 207: Data Structures and Algorithms-II (Part 1)</vt:lpstr>
      <vt:lpstr>Bellman-Ford Algorithm</vt:lpstr>
      <vt:lpstr>Simulation of Bellman-Ford Algorithm</vt:lpstr>
      <vt:lpstr>Simulation of Bellman-Ford Algorithm</vt:lpstr>
      <vt:lpstr>Simulation of Bellman-Ford Algorithm</vt:lpstr>
      <vt:lpstr>Simulation of Bellman-Ford Algorithm</vt:lpstr>
      <vt:lpstr>Simulation of Bellman-Ford Algorithm</vt:lpstr>
      <vt:lpstr>Simulation of Bellman-Ford Algorithm: Cycle Detection</vt:lpstr>
      <vt:lpstr>Simulation of Bellman-Ford Algorithm: Cycle Detection</vt:lpstr>
      <vt:lpstr>Simulation of Bellman-Ford Algorithm: Cycle Detection</vt:lpstr>
      <vt:lpstr>Simulation of Bellman-Ford Algorithm: Cycle Detection</vt:lpstr>
      <vt:lpstr>Simulation of Bellman-Ford Algorithm: Cycle Detection</vt:lpstr>
      <vt:lpstr>Simulation of Bellman-Ford Algorithm: Cycle Detection</vt:lpstr>
      <vt:lpstr>Simulation of Bellman-Ford Algorithm: Cycle Detection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Bellman-Ford Algorithm Correctly Finds Shortest Paths</vt:lpstr>
      <vt:lpstr>Complexity of Bellman-Ford Algorithm</vt:lpstr>
      <vt:lpstr>Complexity of Bellman-Ford Algorithm</vt:lpstr>
      <vt:lpstr>SSSP for DAG</vt:lpstr>
      <vt:lpstr>Simulation of SSSP for DAG</vt:lpstr>
      <vt:lpstr>PowerPoint Presentation</vt:lpstr>
      <vt:lpstr>PowerPoint Presentation</vt:lpstr>
      <vt:lpstr>PowerPoint Presentation</vt:lpstr>
      <vt:lpstr>Negative Weight Edges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Heaps</dc:title>
  <dc:creator>user</dc:creator>
  <cp:lastModifiedBy>Hp</cp:lastModifiedBy>
  <cp:revision>411</cp:revision>
  <cp:lastPrinted>2023-07-12T06:48:09Z</cp:lastPrinted>
  <dcterms:created xsi:type="dcterms:W3CDTF">2021-12-07T16:05:05Z</dcterms:created>
  <dcterms:modified xsi:type="dcterms:W3CDTF">2026-07-01T04:02:11Z</dcterms:modified>
</cp:coreProperties>
</file>